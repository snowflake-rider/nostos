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문제 배경으로 넘어가며 왜 세 노드가 같은 상태를 봐야 하는지 설명합니다.
[Sources]
- README.md
- firmware/README.md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다음 장에서 이 필요성을 구현 목표와 자료 링크로 구체화합니다.
[Sources]
- docs/study/NOSTOS_QA.md
- docs/media/nostos-essence/README.md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이 목표를 어떤 MCU 책임 분리로 구현했는지 개발 환경으로 전환합니다.
[Sources]
- DEVICES.md
- firmware/protocol/README.md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책임 분리 이후 세 노드의 공통 구조와 센서 역할을 보여줍니다.
[Sources]
- firmware/protocol/README.md
- firmware/protocol/nostos_protocol.h
- firmware/stm32/CMakeLists.txt
- firmware/esp32/main/CMakeLists.txt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하드웨어 구성을 어떤 증거 단계로 검증했는지 다음 장에서 경계를 명확히 합니다.
[Sources]
- DEVICES.md
- PINS.md
- docs/adr/0006-rider-node-id-separates-identity-from-capabilities.md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이제 검증 경계를 유지한 채 전체 code architecture를 한 장으로 연결합니다.
[Sources]
- firmware/tools/fw
- firmware/stm32/host-tests/
- firmware/esp32/host-tests/
- firmware/protocol/tests/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전체 구조를 이해한 뒤, 먼저 물리 입력이 안정된 이벤트로 바뀌는 과정을 좁혀 봅니다.
[Sources]
- firmware/protocol/README.md
- firmware/esp32/main/bridge_runtime.c
- docs/designs/presentation-end-to-end-architecture-slide.md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이 이벤트와 센서 상태가 사용자에게 어떻게 보이는지 OLED dashboard로 이어갑니다.
[Sources]
- firmware/stm32/MyApp/hw/button.c
- firmware/stm32/MyApp/hw/rgb_led.c
- firmware/stm32/MyApp/hw/buzzer.c
- firmware/stm32/MyApp/service/audio_service.c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화면의 FALL 우선 상태를 만드는 낙상 판단의 시간 순서를 설명합니다.
[Sources]
- firmware/stm32/MyApp/service/display_service.c
- firmware/stm32/MyApp/common/app_config.h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판정된 STOP이 다섯 software lane을 지나 ACK로 돌아오는 한 번의 transaction을 보여줍니다.
[Sources]
- firmware/stm32/MyApp/service/safety_detector.c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transaction 이후에는 구현 중 발생한 플랫폼과 queue 장애를 어떤 결정으로 해결했는지 회고합니다.
[Sources]
- firmware/protocol/README.md
- firmware/protocol/nostos_protocol.h
- firmware/esp32/main/bridge_runtime.c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소프트웨어 구조뿐 아니라 현장 통합 문제도 measured와 hypothesis를 분리해 기록했습니다.
[Sources]
- firmware/esp32/sdkconfig.defaults
- firmware/esp32/main/mesh_node.c
- firmware/esp32/main/bridge_runtime.c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문제 해결을 넘어 사용자가 실제로 받는 멀티모달 가치로 전환합니다.
[Sources]
- firmware/stm32/MyApp/hw/button.c
- firmware/stm32/MyApp/hw/vs1003b.c
- Team retrospective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센서 차별성은 고정 축이 아니라 실제 장착 자세를 기준으로 삼는 calibration에 있습니다.
[Sources]
- firmware/stm32/MyApp/service/display_service.c
- firmware/stm32/MyApp/hw/rgb_led.c
- firmware/stm32/MyApp/service/audio_service.c
- firmware/stm32/MyApp/hw/buzzer.c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다음 장에서는 동일한 의미 보존을 통신 protocol 관점에서 비교합니다.
[Sources]
- firmware/stm32/MyApp/service/safety_detector.c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기술적 차별성이 사용자에게 주는 즉시 가치와 적용 가능성을 구분해 설명합니다.
[Sources]
- firmware/protocol/README.md
- firmware/protocol/nostos_protocol.h
- firmware/esp32/main/bridge_runtime.c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확장 약속 대신 다음에 통과해야 할 evidence gate를 roadmap으로 제시합니다.
[Sources]
- docs/study/NOSTOS_QA.md
- firmware/protocol/README.md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로드맵 이후에는 실제 개발 순서를 위험 기술 중심 timeline으로 정리합니다.
[Sources]
- TODOS.md
- evidence taxonomy in this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마지막으로 역할별 산출물이 어떻게 하나의 shared safety state로 결합됐는지 닫습니다.
[Sources]
- Team retrospective
- STRUCTURE.md
- firmware/README.md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연결: 질의응답에서는 N07 architecture와 N09 dashboard를 anchor로 되돌아갑니다.
[Sources]
- DEVICES.md
- STRUCTURE.md
- existing deck role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STOS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nowflake-rider/nostos" TargetMode="External"/><Relationship Id="rId2" Type="http://schemas.openxmlformats.org/officeDocument/2006/relationships/hyperlink" Target="https://github.com/snowflake-rider/nostos/blob/main/docs/media/nostos-essence/public/video/nostos-ride-signals.mp4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nowflake-rider/nostos" TargetMode="External"/><Relationship Id="rId2" Type="http://schemas.openxmlformats.org/officeDocument/2006/relationships/hyperlink" Target="https://www.youtube.com/watch?v=r-7fjGOm1hw&amp;feature=youtu.be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NOSTOS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618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STM32F411RE · ESP32-S3 Bluetooth Mesh 기반 그룹 라이딩 안전·상태 공유 시스템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01/20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라이더, 하나의 안전 상태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제어는 유지하고, 필요한 상태와 STOP은 그룹 전체로 공유합니다.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E7F7FC"/>
          </a:solidFill>
          <a:ln w="12700">
            <a:solidFill>
              <a:srgbClr val="E7F7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124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DEVICE CONTROL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24912" y="3703320"/>
            <a:ext cx="160020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3712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· CRC16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43984" y="3703320"/>
            <a:ext cx="1783080" cy="292608"/>
          </a:xfrm>
          <a:prstGeom prst="roundRect">
            <a:avLst>
              <a:gd name="adj" fmla="val 375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MESH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691640"/>
            <a:ext cx="4983480" cy="4069080"/>
          </a:xfrm>
          <a:prstGeom prst="roundRect">
            <a:avLst>
              <a:gd name="adj" fmla="val 4045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3511296"/>
            <a:ext cx="2971800" cy="0"/>
          </a:xfrm>
          <a:prstGeom prst="line">
            <a:avLst/>
          </a:prstGeom>
          <a:noFill/>
          <a:ln w="30480">
            <a:solidFill>
              <a:srgbClr val="55C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2377440"/>
            <a:ext cx="1005840" cy="1005840"/>
          </a:xfrm>
          <a:prstGeom prst="ellipse">
            <a:avLst/>
          </a:prstGeom>
          <a:solidFill>
            <a:srgbClr val="071A2B"/>
          </a:solidFill>
          <a:ln w="27940">
            <a:solidFill>
              <a:srgbClr val="55C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39572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41080" y="3776472"/>
            <a:ext cx="1005840" cy="1005840"/>
          </a:xfrm>
          <a:prstGeom prst="ellipse">
            <a:avLst/>
          </a:prstGeom>
          <a:solidFill>
            <a:srgbClr val="071A2B"/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3794760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04120" y="2039112"/>
            <a:ext cx="1005840" cy="1005840"/>
          </a:xfrm>
          <a:prstGeom prst="ellipse">
            <a:avLst/>
          </a:prstGeom>
          <a:solidFill>
            <a:srgbClr val="071A2B"/>
          </a:solidFill>
          <a:ln w="2794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04120" y="2057400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54112" y="3182112"/>
            <a:ext cx="1051560" cy="713232"/>
          </a:xfrm>
          <a:prstGeom prst="line">
            <a:avLst/>
          </a:prstGeom>
          <a:noFill/>
          <a:ln w="19050">
            <a:solidFill>
              <a:srgbClr val="55C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3913632"/>
            <a:ext cx="749808" cy="-91440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46136" y="2798064"/>
            <a:ext cx="2148840" cy="-17373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4983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STATE_UPDATE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983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STOP_REQUEST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4983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STOP_ACK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· 개발 개요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라이딩의 사각지대를 ‘공유 상태’로 줄이다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거리·소음·시선 분산은 서로 다른 문제가 아니라 같은 정보 공백에서 시작됩니다.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거리·소음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105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앞·뒤 라이더의 상황이 음성·손짓만으로 즉시 전달되지 않음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76072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80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시선 분산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98094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동료 확인과 휴대전화 조작이 도로 주의를 끊음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576072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96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1513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전달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15137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정차·낙상·SOS는 팀 전체에 빠르고 명확하게 도달해야 함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812280" y="1783080"/>
            <a:ext cx="4709160" cy="4160520"/>
          </a:xfrm>
          <a:prstGeom prst="roundRect">
            <a:avLst>
              <a:gd name="adj" fmla="val 3956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SAFETY STATE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2651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명이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팀 상태를 본다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7315200" y="4023360"/>
            <a:ext cx="3246120" cy="0"/>
          </a:xfrm>
          <a:prstGeom prst="line">
            <a:avLst/>
          </a:prstGeom>
          <a:noFill/>
          <a:ln w="30480">
            <a:solidFill>
              <a:srgbClr val="55C1E7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269480" y="4297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4297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4297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074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장치 연결이 아니라 판단 근거의 공유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· 개발 개요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제어를 유지하면서 필요한 상태와 STOP을 공유한다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목표는 세 노드를 하나의 안전한 주행 그룹으로 묶는 것입니다.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530352" cy="292608"/>
          </a:xfrm>
          <a:prstGeom prst="roundRect">
            <a:avLst>
              <a:gd name="adj" fmla="val 37500"/>
            </a:avLst>
          </a:prstGeom>
          <a:solidFill>
            <a:srgbClr val="E7F7FC"/>
          </a:solidFill>
          <a:ln w="12700">
            <a:solidFill>
              <a:srgbClr val="E7F7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836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59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인지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880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속도·온습도·움직임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Up/Down · STOP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926080" y="2788920"/>
            <a:ext cx="502920" cy="0"/>
          </a:xfrm>
          <a:prstGeom prst="line">
            <a:avLst/>
          </a:prstGeom>
          <a:noFill/>
          <a:ln w="2540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874520"/>
            <a:ext cx="530352" cy="292608"/>
          </a:xfrm>
          <a:prstGeom prst="roundRect">
            <a:avLst>
              <a:gd name="adj" fmla="val 37500"/>
            </a:avLst>
          </a:prstGeom>
          <a:solidFill>
            <a:srgbClr val="E7F7FC"/>
          </a:solidFill>
          <a:ln w="12700">
            <a:solidFill>
              <a:srgbClr val="E7F7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8836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59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↔ UART ↔ ESP32-S3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Mesh 공통 메시지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897880" y="2788920"/>
            <a:ext cx="502920" cy="0"/>
          </a:xfrm>
          <a:prstGeom prst="line">
            <a:avLst/>
          </a:prstGeom>
          <a:noFill/>
          <a:ln w="2540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7960" y="1874520"/>
            <a:ext cx="530352" cy="292608"/>
          </a:xfrm>
          <a:prstGeom prst="roundRect">
            <a:avLst>
              <a:gd name="adj" fmla="val 375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8836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359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880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· RGB · Audio · Buzzer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신호와 긴급 알림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418320" y="1810512"/>
            <a:ext cx="2148840" cy="3246120"/>
          </a:xfrm>
          <a:prstGeom prst="roundRect">
            <a:avLst>
              <a:gd name="adj" fmla="val 7660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21031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링크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050" dirty="0"/>
          </a:p>
        </p:txBody>
      </p:sp>
      <p:sp>
        <p:nvSpPr>
          <p:cNvPr id="24" name="Text 22">
            <a:hlinkClick r:id="rId1" tooltip=""/>
          </p:cNvPr>
          <p:cNvSpPr txBox="1"/>
          <p:nvPr/>
        </p:nvSpPr>
        <p:spPr>
          <a:xfrm>
            <a:off x="9738360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 →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738360" y="37673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050" dirty="0"/>
          </a:p>
        </p:txBody>
      </p:sp>
      <p:sp>
        <p:nvSpPr>
          <p:cNvPr id="26" name="Text 24">
            <a:hlinkClick r:id="rId2" tooltip=""/>
          </p:cNvPr>
          <p:cNvSpPr txBox="1"/>
          <p:nvPr/>
        </p:nvSpPr>
        <p:spPr>
          <a:xfrm>
            <a:off x="973836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Ride Signals →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892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운전자의 시선은 도로에, 팀 정보는 모든 노드에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· 개발 환경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MCU는 ‘device control’과 ‘Mesh bridge’를 분리한다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protocol은 어느 한쪽의 소유물이 아니라 두 MCU가 함께 사용하는 계약입니다.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434340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20320">
            <a:solidFill>
              <a:srgbClr val="55C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29968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E7F7FC"/>
          </a:solidFill>
          <a:ln w="12700">
            <a:solidFill>
              <a:srgbClr val="E7F7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039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STM32F411RE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14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CONTROL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546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센서·버튼 입력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OLED·RGB·Audio·Buzzer 출력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안전 감지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23760" y="1783080"/>
            <a:ext cx="4343400" cy="3520440"/>
          </a:xfrm>
          <a:prstGeom prst="roundRect">
            <a:avLst>
              <a:gd name="adj" fmla="val 4156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029968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514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BRIDGE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1546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framing·queue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Mesh publish/receive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STOP·ACK 우선 정책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2971800" cy="1417320"/>
          </a:xfrm>
          <a:prstGeom prst="roundRect">
            <a:avLst>
              <a:gd name="adj" fmla="val 9032"/>
            </a:avLst>
          </a:prstGeom>
          <a:solidFill>
            <a:srgbClr val="E7F7FC"/>
          </a:solidFill>
          <a:ln w="15240">
            <a:solidFill>
              <a:srgbClr val="55C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CONTRACT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3101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nostos_protocol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CRC16 · UART framing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977640" y="3493008"/>
            <a:ext cx="594360" cy="0"/>
          </a:xfrm>
          <a:prstGeom prst="line">
            <a:avLst/>
          </a:prstGeom>
          <a:noFill/>
          <a:ln w="25400">
            <a:solidFill>
              <a:srgbClr val="007A9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43800" y="3493008"/>
            <a:ext cx="-594360" cy="0"/>
          </a:xfrm>
          <a:prstGeom prst="line">
            <a:avLst/>
          </a:prstGeom>
          <a:noFill/>
          <a:ln w="25400">
            <a:solidFill>
              <a:srgbClr val="071A2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68680" y="5440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696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C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5696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HAL · ESP-IDF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696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CMake · fw wrapper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· 개발 환경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노드는 공통 출력 구조와 서로 다른 센서 역할을 공유한다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ID는 위치나 센서 종류와 분리되고, 현재 profile만 장치 역할을 정의합니다.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43000" y="4480560"/>
            <a:ext cx="9875520" cy="0"/>
          </a:xfrm>
          <a:prstGeom prst="line">
            <a:avLst/>
          </a:prstGeom>
          <a:noFill/>
          <a:ln w="33020">
            <a:solidFill>
              <a:srgbClr val="07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4480560"/>
            <a:ext cx="0" cy="-1143000"/>
          </a:xfrm>
          <a:prstGeom prst="line">
            <a:avLst/>
          </a:prstGeom>
          <a:noFill/>
          <a:ln w="25400">
            <a:solidFill>
              <a:srgbClr val="55C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2441448"/>
            <a:ext cx="1060704" cy="10607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5C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2459736"/>
            <a:ext cx="1060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상태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67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XOSS speed sensor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80760" y="4480560"/>
            <a:ext cx="0" cy="-11430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0408" y="2441448"/>
            <a:ext cx="1060704" cy="1060704"/>
          </a:xfrm>
          <a:prstGeom prst="ellipse">
            <a:avLst/>
          </a:prstGeom>
          <a:solidFill>
            <a:srgbClr val="071A2B"/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2459736"/>
            <a:ext cx="1060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상태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67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temp·humidity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241280" y="4480560"/>
            <a:ext cx="0" cy="-11430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441448"/>
            <a:ext cx="1060704" cy="10607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10928" y="2459736"/>
            <a:ext cx="1060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상태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267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fall candidate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051560" y="4892040"/>
            <a:ext cx="10012680" cy="749808"/>
          </a:xfrm>
          <a:prstGeom prst="roundRect">
            <a:avLst>
              <a:gd name="adj" fmla="val 14634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25880" y="5111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RAIL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0474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SSD1306  ·  VS1003B  ·  Button ×4  ·  RGB LED  ·  Buzzer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· 개발 환경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코드·빌드·실물 동작은 서로 다른 증거다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단계를 분리해야 host PASS를 실제 3-node 동작으로 과장하지 않습니다.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5166360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EAF7F0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395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239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13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inspection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5513832"/>
            <a:ext cx="320040" cy="-658368"/>
          </a:xfrm>
          <a:prstGeom prst="line">
            <a:avLst/>
          </a:prstGeom>
          <a:noFill/>
          <a:ln w="2032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450799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EAF7F0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458114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5811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CHECK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855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12/12 · ESP32 3/3 · Protocol 1/1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4855464"/>
            <a:ext cx="320040" cy="-658368"/>
          </a:xfrm>
          <a:prstGeom prst="line">
            <a:avLst/>
          </a:prstGeom>
          <a:noFill/>
          <a:ln w="2032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57800" y="3849624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E7F7FC"/>
          </a:solidFill>
          <a:ln w="16510">
            <a:solidFill>
              <a:srgbClr val="007A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39227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922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BUILD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 configure/build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4197096"/>
            <a:ext cx="320040" cy="-658368"/>
          </a:xfrm>
          <a:prstGeom prst="line">
            <a:avLst/>
          </a:prstGeom>
          <a:noFill/>
          <a:ln w="2032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43800" y="3191256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651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32644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2644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COMPONENT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538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· RF · output per board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9760" y="3538728"/>
            <a:ext cx="320040" cy="-658368"/>
          </a:xfrm>
          <a:prstGeom prst="line">
            <a:avLst/>
          </a:prstGeom>
          <a:noFill/>
          <a:ln w="2032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29800" y="2532888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FFF0F0"/>
          </a:solidFill>
          <a:ln w="16510">
            <a:solidFill>
              <a:srgbClr val="C241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66960" y="26060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E2E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STOP path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1828800"/>
            <a:ext cx="1051560" cy="292608"/>
          </a:xfrm>
          <a:prstGeom prst="roundRect">
            <a:avLst>
              <a:gd name="adj" fmla="val 37500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18379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920240" y="1792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checks는 software behavior evidence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1837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1792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센서·RF·출력의 3-node physical E2E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개발 프로그램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라이더의 입력을 다른 라이더의 application 수락까지 추적한다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상태는 latest-state, 긴급 STOP은 priority, ACK는 peer STM32 acceptance 이후에만 생성됩니다.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824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 · 발신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148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I/O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810512" y="21214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· Button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· RGB · Audio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29968" y="2898648"/>
            <a:ext cx="0" cy="237744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136392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E7F7FC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2278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SERVICES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810512" y="3200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service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display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029968" y="3977640"/>
            <a:ext cx="0" cy="237744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215384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06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BRIDGE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42793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bridge_runtime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priority/latest-state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" y="2852928"/>
            <a:ext cx="2176272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nostos_protocol · CRC16/UART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16824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B · 수신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68512" y="2057400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33104" y="2148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I/O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930384" y="21214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· Button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· RGB · Audio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149840" y="2898648"/>
            <a:ext cx="0" cy="237744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68512" y="3136392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E7F7FC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33104" y="32278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SERVICES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930384" y="3200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service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gate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149840" y="3977640"/>
            <a:ext cx="0" cy="237744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68512" y="4215384"/>
            <a:ext cx="2971800" cy="841248"/>
          </a:xfrm>
          <a:prstGeom prst="roundRect">
            <a:avLst>
              <a:gd name="adj" fmla="val 13043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33104" y="4306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BRIDGE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930384" y="42793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bridge_runtime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priority/latest-state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061704" y="2852928"/>
            <a:ext cx="2176272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61704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nostos_protocol · CRC16/UART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94760" y="2011680"/>
            <a:ext cx="43434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60520" y="2212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MESH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2404872"/>
            <a:ext cx="950976" cy="95097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1A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0" y="242316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520440" y="3520440"/>
            <a:ext cx="5074920" cy="0"/>
          </a:xfrm>
          <a:prstGeom prst="line">
            <a:avLst/>
          </a:prstGeom>
          <a:noFill/>
          <a:ln w="25400">
            <a:solidFill>
              <a:srgbClr val="007A9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09160" y="335584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09160" y="3392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STATE_UPDATE · latest-state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20440" y="4160520"/>
            <a:ext cx="5074920" cy="0"/>
          </a:xfrm>
          <a:prstGeom prst="line">
            <a:avLst/>
          </a:prstGeom>
          <a:noFill/>
          <a:ln w="25400">
            <a:solidFill>
              <a:srgbClr val="C2414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709160" y="399592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09160" y="40325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4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STOP_REQUEST · priority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95360" y="4800600"/>
            <a:ext cx="-5074920" cy="0"/>
          </a:xfrm>
          <a:prstGeom prst="line">
            <a:avLst/>
          </a:prstGeom>
          <a:noFill/>
          <a:ln w="25400">
            <a:solidFill>
              <a:srgbClr val="071A2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709160" y="463600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09160" y="4672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STOP_ACK · STM32 app ACCEPT 이후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5394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receipt ≠ application acceptance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개발 프로그램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입력은 한 번의 의도를 안정된 application event로 바꾼다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Pull-up · 30 ms debounce · one-press event가 중복 입력을 줄이고 출력 policy를 결정합니다.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7780">
            <a:solidFill>
              <a:srgbClr val="007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9992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Up · B2 Down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STOP · B4 Reset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468880" y="3044952"/>
            <a:ext cx="502920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33172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7780">
            <a:solidFill>
              <a:srgbClr val="007A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36392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18104" y="29992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ms stable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once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46320" y="3044952"/>
            <a:ext cx="502920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40680" y="233172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0F0"/>
          </a:solidFill>
          <a:ln w="17780">
            <a:solidFill>
              <a:srgbClr val="C241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05272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86984" y="29992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/ STOP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RESET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0" y="3044952"/>
            <a:ext cx="502920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09560" y="233172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7780">
            <a:solidFill>
              <a:srgbClr val="007A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74152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55864" y="299923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2 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priority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84080" y="3044952"/>
            <a:ext cx="502920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04120" y="2331720"/>
            <a:ext cx="15087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7780">
            <a:solidFill>
              <a:srgbClr val="007A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68712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50424" y="2999232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· Audio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· OLED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5800" y="4617720"/>
            <a:ext cx="10789920" cy="749808"/>
          </a:xfrm>
          <a:prstGeom prst="roundRect">
            <a:avLst>
              <a:gd name="adj" fmla="val 14634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8371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HOLD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4745736"/>
            <a:ext cx="8641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필요 상태에서 Button 1을 3초 hold → 재시도 session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개발 프로그램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128×64 화면에 주행·환경·그룹 신호를 통합한다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ms update · I²C1 · 0x3C — 작은 화면에서도 우선순위를 먼저 설계했습니다.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7360920" cy="3703320"/>
          </a:xfrm>
          <a:prstGeom prst="roundRect">
            <a:avLst>
              <a:gd name="adj" fmla="val 4444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084832"/>
            <a:ext cx="6629400" cy="2999232"/>
          </a:xfrm>
          <a:prstGeom prst="roundRect">
            <a:avLst>
              <a:gd name="adj" fmla="val 2439"/>
            </a:avLst>
          </a:prstGeom>
          <a:solidFill>
            <a:srgbClr val="06131F"/>
          </a:solidFill>
          <a:ln w="16510">
            <a:solidFill>
              <a:srgbClr val="55C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5C1E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NOSTOS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066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22.8 km/h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27614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0.123 km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20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25.3 °C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520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61.0 %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977640"/>
            <a:ext cx="5989320" cy="0"/>
          </a:xfrm>
          <a:prstGeom prst="line">
            <a:avLst/>
          </a:prstGeom>
          <a:noFill/>
          <a:ln w="12700">
            <a:solidFill>
              <a:srgbClr val="2143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1330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C1E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← Have an amazing ride! Safety first.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44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N1: ACCELERATE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45445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READY · UART LINK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202936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SSD1306 DASHBOARD · 2:1 LIVE LAYOUT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1938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PRIORITY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9640" y="237744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0F0"/>
          </a:solidFill>
          <a:ln w="12700">
            <a:solidFill>
              <a:srgbClr val="C241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9952" y="24780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4505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safety state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49640" y="333756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7E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59952" y="34381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410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703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· retry · failed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49640" y="429768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E7F7FC"/>
          </a:solidFill>
          <a:ln w="12700">
            <a:solidFill>
              <a:srgbClr val="007A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59952" y="43982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370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+ group state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5321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상태가 종료되면 dashboard로 복귀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개발 프로그램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낙상은 단일 기울기가 아니라 시간 순서를 가진 복합 조건이다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충격 후보를 먼저 잡고 자세 변화와 보정 각속도를 관찰한 뒤 countdown을 시작합니다.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10287000" cy="0"/>
          </a:xfrm>
          <a:prstGeom prst="line">
            <a:avLst/>
          </a:prstGeom>
          <a:noFill/>
          <a:ln w="27940">
            <a:solidFill>
              <a:srgbClr val="07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401568"/>
            <a:ext cx="603504" cy="603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41985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충격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≥ 1.5 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72968" y="3401568"/>
            <a:ext cx="603504" cy="603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72968" y="341985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1–3 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96128" y="3401568"/>
            <a:ext cx="603504" cy="603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96128" y="341985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45°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9288" y="3401568"/>
            <a:ext cx="603504" cy="603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19288" y="341985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 100°/s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442448" y="3401568"/>
            <a:ext cx="603504" cy="603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C241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42448" y="341985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2514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4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 s → FALL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4709160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" y="4946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BASIS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828032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 samples · 0.85–1.15 g · ≤ 5°/s · gravity vector + gyro offset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개발 프로그램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STOP은 priority로 전달되고 peer STM32 수락 뒤 ACK가 돌아온다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성공이 아니라 application acceptance를 확인하며, 미응답 peer만 retry합니다.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148840"/>
            <a:ext cx="0" cy="342900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0" cy="342900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0" cy="3429000"/>
          </a:xfrm>
          <a:prstGeom prst="line">
            <a:avLst/>
          </a:prstGeom>
          <a:noFill/>
          <a:ln w="25400">
            <a:solidFill>
              <a:srgbClr val="55C1E7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22376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148840"/>
            <a:ext cx="0" cy="342900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49840" y="2148840"/>
            <a:ext cx="0" cy="342900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560320"/>
            <a:ext cx="9144000" cy="1417320"/>
          </a:xfrm>
          <a:prstGeom prst="line">
            <a:avLst/>
          </a:prstGeom>
          <a:noFill/>
          <a:ln w="3302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98280" y="36576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1778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3813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GATE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408736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received → app accepts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 ACK created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149840" y="4617720"/>
            <a:ext cx="-9144000" cy="749808"/>
          </a:xfrm>
          <a:prstGeom prst="line">
            <a:avLst/>
          </a:prstGeom>
          <a:noFill/>
          <a:ln w="33020">
            <a:solidFill>
              <a:srgbClr val="071A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86200" y="2359152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86200" y="2414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4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STOP_REQUEST · priority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507492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0" y="5129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STOP_ACK · 미응답 peer만 retry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6875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MESSAGE CONTRACT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559612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STATE_UPDATE · PACE_REQUEST · STOP_REQUEST · STOP_ACK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· 장애 요인과 해결 방안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연결보다 queue 정책과 운영 안정성을 먼저 고정했다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전환을 끝으로 보지 않고, 반복 가능한 운영 규칙으로 바꿨습니다.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359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검토와 일정 압박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429000" y="2615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240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E7F7FC"/>
          </a:solidFill>
          <a:ln w="12700">
            <a:solidFill>
              <a:srgbClr val="55C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359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+ ESP-IDF 확정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040880" y="2615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63840" y="2240280"/>
            <a:ext cx="3429000" cy="749808"/>
          </a:xfrm>
          <a:prstGeom prst="roundRect">
            <a:avLst>
              <a:gd name="adj" fmla="val 12195"/>
            </a:avLst>
          </a:prstGeom>
          <a:solidFill>
            <a:srgbClr val="EAF7F0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2359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runtime 기반 구성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502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Normal/STOP 경쟁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429000" y="3758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51960" y="3383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E7F7FC"/>
          </a:solidFill>
          <a:ln w="12700">
            <a:solidFill>
              <a:srgbClr val="55C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16552" y="3502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latest-state와 priority queue 분리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040880" y="3758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63840" y="3383280"/>
            <a:ext cx="3429000" cy="749808"/>
          </a:xfrm>
          <a:prstGeom prst="roundRect">
            <a:avLst>
              <a:gd name="adj" fmla="val 12195"/>
            </a:avLst>
          </a:prstGeom>
          <a:solidFill>
            <a:srgbClr val="EAF7F0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3502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의미와 최신 상태 보존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645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재구성 부담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3429000" y="4901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51960" y="4526280"/>
            <a:ext cx="2788920" cy="749808"/>
          </a:xfrm>
          <a:prstGeom prst="roundRect">
            <a:avLst>
              <a:gd name="adj" fmla="val 12195"/>
            </a:avLst>
          </a:prstGeom>
          <a:solidFill>
            <a:srgbClr val="E7F7FC"/>
          </a:solidFill>
          <a:ln w="12700">
            <a:solidFill>
              <a:srgbClr val="55C1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16552" y="4645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provisioning/group 기준 고정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040880" y="4901184"/>
            <a:ext cx="685800" cy="0"/>
          </a:xfrm>
          <a:prstGeom prst="line">
            <a:avLst/>
          </a:prstGeom>
          <a:noFill/>
          <a:ln w="2159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63840" y="4526280"/>
            <a:ext cx="3429000" cy="749808"/>
          </a:xfrm>
          <a:prstGeom prst="roundRect">
            <a:avLst>
              <a:gd name="adj" fmla="val 12195"/>
            </a:avLst>
          </a:prstGeom>
          <a:solidFill>
            <a:srgbClr val="EAF7F0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645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0xC001 group operation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623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표기는 code evidence가 아니라 팀 회고 기준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· 장애 요인과 해결 방안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통합 문제는 원인과 회피책을 분리해 기록했다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측정하지 않은 원인은 확정하지 않고 HYPOTHESIS로 남겼습니다.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TYPE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755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755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1101852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2267712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접점 튐 · DREQ timing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2267712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/ HYPOTHESIS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267712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ms debounce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· SCI read-back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267712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입력·stall 경로 축소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1101852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392424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중 전원·배선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3392424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3924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분리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케이블 고정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39242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 조건 관리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" y="5285232"/>
            <a:ext cx="1101852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4517136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hub 동시 Flash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4517136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OBSERVED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4517136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대씩 순차 Flash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Port/Serial 지정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4517136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혼선 회피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10789920" cy="420624"/>
          </a:xfrm>
          <a:prstGeom prst="roundRect">
            <a:avLst>
              <a:gd name="adj" fmla="val 21739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569671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확정은 측정 로그가 있을 때만 — 지금은 대응 가능한 경계만 명확히 표시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· 개발 결과물의 차별성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sensor data를 라이더가 바로 행동할 수 있는 신호로 바꾼다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메시지를 상황에 맞는 시각·청각 출력으로 분해해 화면 의존을 낮춥니다.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880360" cy="3337560"/>
          </a:xfrm>
          <a:prstGeom prst="roundRect">
            <a:avLst>
              <a:gd name="adj" fmla="val 5079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331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INTENT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803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PACE UP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PACE DOWN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617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· sensor · fall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3685032"/>
            <a:ext cx="1005840" cy="0"/>
          </a:xfrm>
          <a:prstGeom prst="line">
            <a:avLst/>
          </a:prstGeom>
          <a:noFill/>
          <a:ln w="27940">
            <a:solidFill>
              <a:srgbClr val="007A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874520"/>
            <a:ext cx="2788920" cy="1417320"/>
          </a:xfrm>
          <a:prstGeom prst="roundRect">
            <a:avLst>
              <a:gd name="adj" fmla="val 9032"/>
            </a:avLst>
          </a:prstGeom>
          <a:solidFill>
            <a:srgbClr val="E7F7FC"/>
          </a:solidFill>
          <a:ln w="15240">
            <a:solidFill>
              <a:srgbClr val="007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 · 발신 node · 요청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27889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5240">
            <a:solidFill>
              <a:srgbClr val="071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· Yellow · Red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0" y="3977640"/>
            <a:ext cx="27889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5240">
            <a:solidFill>
              <a:srgbClr val="071A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6542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→ asset → DREQ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38160" y="3977640"/>
            <a:ext cx="2788920" cy="1417320"/>
          </a:xfrm>
          <a:prstGeom prst="roundRect">
            <a:avLst>
              <a:gd name="adj" fmla="val 9032"/>
            </a:avLst>
          </a:prstGeom>
          <a:solidFill>
            <a:srgbClr val="FFF0F0"/>
          </a:solidFill>
          <a:ln w="15240">
            <a:solidFill>
              <a:srgbClr val="C241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6542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priority pattern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· 개발 결과물의 차별성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장착 자세 calibration이 고정 축 임계값을 대체한다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자전거 장착 상태를 정상 기준으로 저장해 상대 변화로 해석합니다.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4389120" cy="3246120"/>
          </a:xfrm>
          <a:prstGeom prst="roundRect">
            <a:avLst>
              <a:gd name="adj" fmla="val 4507"/>
            </a:avLst>
          </a:prstGeom>
          <a:solidFill>
            <a:srgbClr val="FFF0F0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5237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축 threshold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246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장착 각도 변화가 곧 오차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축의 순간값에 민감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874520" y="4709160"/>
            <a:ext cx="1600200" cy="-1234440"/>
          </a:xfrm>
          <a:prstGeom prst="line">
            <a:avLst/>
          </a:prstGeom>
          <a:noFill/>
          <a:ln w="30480">
            <a:solidFill>
              <a:srgbClr val="C2414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74520" y="4709160"/>
            <a:ext cx="1600200" cy="0"/>
          </a:xfrm>
          <a:prstGeom prst="line">
            <a:avLst/>
          </a:prstGeom>
          <a:noFill/>
          <a:ln w="30480">
            <a:solidFill>
              <a:srgbClr val="C2414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00800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5074920" cy="3246120"/>
          </a:xfrm>
          <a:prstGeom prst="roundRect">
            <a:avLst>
              <a:gd name="adj" fmla="val 4507"/>
            </a:avLst>
          </a:prstGeom>
          <a:solidFill>
            <a:srgbClr val="E7F7FC"/>
          </a:solidFill>
          <a:ln w="15240">
            <a:solidFill>
              <a:srgbClr val="55C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5237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장착 기준 상대 vector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15468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 stable samples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gravity direction normalization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5B64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gyro offset 저장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65208" y="3813048"/>
            <a:ext cx="877824" cy="87782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65208" y="3831336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04120" y="4251960"/>
            <a:ext cx="0" cy="-1051560"/>
          </a:xfrm>
          <a:prstGeom prst="line">
            <a:avLst/>
          </a:prstGeom>
          <a:noFill/>
          <a:ln w="29210">
            <a:solidFill>
              <a:srgbClr val="007A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04120" y="4251960"/>
            <a:ext cx="822960" cy="457200"/>
          </a:xfrm>
          <a:prstGeom prst="line">
            <a:avLst/>
          </a:prstGeom>
          <a:noFill/>
          <a:ln w="29210">
            <a:solidFill>
              <a:srgbClr val="071A2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· 개발 결과물의 차별성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send-success보다 application acceptance가 더 강한 의미를 준다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state · priority STOP · targeted retry가 제한된 MCU 자원에서 message 의미를 보존합니다.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TRANSPORT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755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NOSTOS POLICY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149840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167128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276856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STATE_UPDATE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276856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FIFO accumulation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62088" y="2276856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A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topic latest-state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259568" y="2276856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data 제거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0175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3127248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STOP_REQUEST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3127248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normal send queue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12724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A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priority queue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259568" y="312724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의미 선점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86791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97764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STOP_ACK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397764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 send success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562088" y="397764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2414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peer STM32 accepts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259568" y="3977640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경계 확인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718304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" y="4828032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RETRY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950208" y="482803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broadcast repeat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62088" y="482803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A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unmatched peer only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259568" y="482803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 재전송 축소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7790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ACK는 물리 출력 완료나 safety certification을 뜻하지 않는다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· 파급력 및 기대 효과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조작 없이 팀 상태를 공유하는 구조는 안전 보조로 확장 가능하다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기능의 즉시 가치와 아직 검증이 필요한 기대 효과를 분리합니다.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800600" cy="3886200"/>
          </a:xfrm>
          <a:prstGeom prst="roundRect">
            <a:avLst>
              <a:gd name="adj" fmla="val 3765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VALUE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중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 공백 완화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605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버튼을 누르기 어려운 순간에도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낙상 판단이 STOP 경로를 시작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2267712"/>
            <a:ext cx="5257800" cy="768096"/>
          </a:xfrm>
          <a:prstGeom prst="roundRect">
            <a:avLst>
              <a:gd name="adj" fmla="val 14286"/>
            </a:avLst>
          </a:prstGeom>
          <a:solidFill>
            <a:srgbClr val="E7F7FC"/>
          </a:solidFill>
          <a:ln w="12700">
            <a:solidFill>
              <a:srgbClr val="007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23957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BICYCLE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라이딩 신호 공유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3273552"/>
            <a:ext cx="52578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34015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383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 모빌리티 안전 보조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89320" y="4279392"/>
            <a:ext cx="5257800" cy="768096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 w="12700">
            <a:solidFill>
              <a:srgbClr val="C241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LINK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후 위치·보호자 연락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54406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규모·판매 수치는 이번 범위에서 사용하지 않음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· 파급력 및 기대 효과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확장은 완료 약속이 아니라 evidence gate로 관리한다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E2E부터 소형화까지, 앞 단계가 검증되어야 다음 단계가 열립니다.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2423160" cy="2331720"/>
          </a:xfrm>
          <a:prstGeom prst="roundRect">
            <a:avLst>
              <a:gd name="adj" fmla="val 5882"/>
            </a:avLst>
          </a:prstGeom>
          <a:solidFill>
            <a:srgbClr val="FFF0F0"/>
          </a:solidFill>
          <a:ln w="16510">
            <a:solidFill>
              <a:srgbClr val="C241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423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414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PHYSICAL E2E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STOP path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081528" y="3310128"/>
            <a:ext cx="429768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11296" y="2148840"/>
            <a:ext cx="2423160" cy="2331720"/>
          </a:xfrm>
          <a:prstGeom prst="roundRect">
            <a:avLst>
              <a:gd name="adj" fmla="val 5882"/>
            </a:avLst>
          </a:prstGeom>
          <a:solidFill>
            <a:srgbClr val="FFF7E6"/>
          </a:solidFill>
          <a:ln w="1651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9896" y="2423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7791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739896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· latency · false positive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34456" y="3310128"/>
            <a:ext cx="429768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2148840"/>
            <a:ext cx="2423160" cy="2331720"/>
          </a:xfrm>
          <a:prstGeom prst="roundRect">
            <a:avLst>
              <a:gd name="adj" fmla="val 5882"/>
            </a:avLst>
          </a:prstGeom>
          <a:solidFill>
            <a:srgbClr val="E7F7FC"/>
          </a:solidFill>
          <a:ln w="16510">
            <a:solidFill>
              <a:srgbClr val="007A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92824" y="2423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92824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7A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USER VALIDATION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scenario feedback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87384" y="3310128"/>
            <a:ext cx="429768" cy="0"/>
          </a:xfrm>
          <a:prstGeom prst="line">
            <a:avLst/>
          </a:prstGeom>
          <a:noFill/>
          <a:ln w="22860">
            <a:solidFill>
              <a:srgbClr val="E9EEF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17152" y="2148840"/>
            <a:ext cx="2423160" cy="2331720"/>
          </a:xfrm>
          <a:prstGeom prst="roundRect">
            <a:avLst>
              <a:gd name="adj" fmla="val 5882"/>
            </a:avLst>
          </a:prstGeom>
          <a:solidFill>
            <a:srgbClr val="EAF7F0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5752" y="2423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44575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855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MINIATURIZE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9445752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· battery · mounting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3232" y="5074920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5084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GATE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50200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physical STOP E2E는 아직 PENDING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 · 개발 일정 및 업무 분장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기술을 먼저 검증하고 platform → 기능 → 통합 → 검증 순으로 진행했다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날짜 기록 대신 실제 작업 단계와 주요 의사결정을 기준으로 정리했습니다.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3675888"/>
            <a:ext cx="10241280" cy="0"/>
          </a:xfrm>
          <a:prstGeom prst="line">
            <a:avLst/>
          </a:prstGeom>
          <a:noFill/>
          <a:ln w="30480">
            <a:solidFill>
              <a:srgbClr val="07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3328416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3346704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요구·역할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63824" y="3328416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C241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63824" y="3346704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79776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688336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결정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334256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50992" y="3328416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50992" y="3346704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STM32·Mesh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38160" y="3328416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3346704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54112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UART·Protocol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625328" y="3328416"/>
            <a:ext cx="694944" cy="694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7A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25328" y="3346704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Host·Demo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60120" y="4800600"/>
            <a:ext cx="10195560" cy="777240"/>
          </a:xfrm>
          <a:prstGeom prst="roundRect">
            <a:avLst>
              <a:gd name="adj" fmla="val 14118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4440" y="5047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원칙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49194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통신 조기 검증  ·  기능별 구현 후 공통 protocol 통합  ·  Demo 전 power/flash 점검</a:t>
            </a:r>
            <a:endParaRPr lang="en-US" sz="1550" dirty="0"/>
          </a:p>
        </p:txBody>
      </p:sp>
      <p:sp>
        <p:nvSpPr>
          <p:cNvPr id="36" name="Shap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 · 개발 일정 및 업무 분장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역할별 산출물이 하나의 shared safety state로 결합됐다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확정된 팀원명이 없는 현재 deck에서는 검증 가능한 역할 범주와 산출물만 표시합니다.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16768" y="6373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92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792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060704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225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감지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322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MPU6050 · calibration · fall sequence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3225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candidate 생성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1060704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인터페이스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SSD1306 · RGB · Audio · Buzzer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1638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action signal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581144"/>
            <a:ext cx="10607040" cy="0"/>
          </a:xfrm>
          <a:prstGeom prst="line">
            <a:avLst/>
          </a:prstGeom>
          <a:noFill/>
          <a:ln w="12700">
            <a:solidFill>
              <a:srgbClr val="E9EE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0050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무선 통합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005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71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UART codec · queue · Bluetooth Mesh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0050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group state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607040" cy="868680"/>
          </a:xfrm>
          <a:prstGeom prst="roundRect">
            <a:avLst>
              <a:gd name="adj" fmla="val 14737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528523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달릴 때, 안전 정보도 함께 움직입니다.</a:t>
            </a:r>
            <a:endParaRPr lang="en-US" sz="2000" dirty="0"/>
          </a:p>
        </p:txBody>
      </p:sp>
      <p:sp>
        <p:nvSpPr>
          <p:cNvPr id="24" name="Text 22">
            <a:hlinkClick r:id="rId1" tooltip=""/>
          </p:cNvPr>
          <p:cNvSpPr txBox="1"/>
          <p:nvPr/>
        </p:nvSpPr>
        <p:spPr>
          <a:xfrm>
            <a:off x="8275320" y="53583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55C1E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→</a:t>
            </a:r>
            <a:endParaRPr lang="en-US" sz="1050" dirty="0"/>
          </a:p>
        </p:txBody>
      </p:sp>
      <p:sp>
        <p:nvSpPr>
          <p:cNvPr id="25" name="Text 23">
            <a:hlinkClick r:id="rId2" tooltip=""/>
          </p:cNvPr>
          <p:cNvSpPr txBox="1"/>
          <p:nvPr/>
        </p:nvSpPr>
        <p:spPr>
          <a:xfrm>
            <a:off x="9555480" y="535838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→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NOSTOS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NOSTOS - 개발완료보고서 20P</dc:title>
  <dc:subject>NOSTOS 개발완료보고서</dc:subject>
  <dc:creator>NOSTOS Team</dc:creator>
  <cp:lastModifiedBy>NOSTOS Team</cp:lastModifiedBy>
  <cp:revision>1</cp:revision>
  <dcterms:created xsi:type="dcterms:W3CDTF">2026-09-03T02:58:55Z</dcterms:created>
  <dcterms:modified xsi:type="dcterms:W3CDTF">2026-09-03T02:58:55Z</dcterms:modified>
</cp:coreProperties>
</file>