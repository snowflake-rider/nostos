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458fd3e2f94edf" /><Relationship Type="http://schemas.openxmlformats.org/officeDocument/2006/relationships/extended-properties" Target="/docProps/app.xml" Id="R0ae70e2892f940e2" /><Relationship Type="http://schemas.openxmlformats.org/officeDocument/2006/relationships/officeDocument" Target="/ppt/presentation.xml" Id="Rc2fc66def931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7b45031604d23"/>
  </p:sldMasterIdLst>
  <p:notesMasterIdLst>
    <p:notesMasterId xmlns:r="http://schemas.openxmlformats.org/officeDocument/2006/relationships" r:id="R582fd6490fda48a8"/>
  </p:notesMasterIdLst>
  <p:sldIdLst>
    <p:sldId xmlns:r="http://schemas.openxmlformats.org/officeDocument/2006/relationships" id="256" r:id="R4885e8700ef24865"/>
    <p:sldId xmlns:r="http://schemas.openxmlformats.org/officeDocument/2006/relationships" id="257" r:id="R8e880f1e37064a07"/>
    <p:sldId xmlns:r="http://schemas.openxmlformats.org/officeDocument/2006/relationships" id="258" r:id="Re1ad92a08d514f19"/>
    <p:sldId xmlns:r="http://schemas.openxmlformats.org/officeDocument/2006/relationships" id="259" r:id="R82b4980680064a31"/>
    <p:sldId xmlns:r="http://schemas.openxmlformats.org/officeDocument/2006/relationships" id="260" r:id="R59813e02876f450d"/>
    <p:sldId xmlns:r="http://schemas.openxmlformats.org/officeDocument/2006/relationships" id="261" r:id="R447f6d905b814e78"/>
    <p:sldId xmlns:r="http://schemas.openxmlformats.org/officeDocument/2006/relationships" id="262" r:id="R72a9d76fc54d43d2"/>
    <p:sldId xmlns:r="http://schemas.openxmlformats.org/officeDocument/2006/relationships" id="263" r:id="R89f8eeba5a534e66"/>
    <p:sldId xmlns:r="http://schemas.openxmlformats.org/officeDocument/2006/relationships" id="264" r:id="R83d69dc420144f81"/>
    <p:sldId xmlns:r="http://schemas.openxmlformats.org/officeDocument/2006/relationships" id="265" r:id="R2340345e6fb54001"/>
    <p:sldId xmlns:r="http://schemas.openxmlformats.org/officeDocument/2006/relationships" id="266" r:id="Rce4f187e5ea94fd6"/>
    <p:sldId xmlns:r="http://schemas.openxmlformats.org/officeDocument/2006/relationships" id="267" r:id="Rf8d6317c375e4041"/>
    <p:sldId xmlns:r="http://schemas.openxmlformats.org/officeDocument/2006/relationships" id="268" r:id="Rd0d159d58e104297"/>
    <p:sldId xmlns:r="http://schemas.openxmlformats.org/officeDocument/2006/relationships" id="269" r:id="R2d03c9c6f6c34448"/>
    <p:sldId xmlns:r="http://schemas.openxmlformats.org/officeDocument/2006/relationships" id="270" r:id="Rc022b3f989174522"/>
    <p:sldId xmlns:r="http://schemas.openxmlformats.org/officeDocument/2006/relationships" id="271" r:id="Rb75822cdd2454841"/>
    <p:sldId xmlns:r="http://schemas.openxmlformats.org/officeDocument/2006/relationships" id="272" r:id="Re6be61901a6d4128"/>
    <p:sldId xmlns:r="http://schemas.openxmlformats.org/officeDocument/2006/relationships" id="273" r:id="R1b9b581d72dc4688"/>
    <p:sldId xmlns:r="http://schemas.openxmlformats.org/officeDocument/2006/relationships" id="274" r:id="Re9117aba84354622"/>
    <p:sldId xmlns:r="http://schemas.openxmlformats.org/officeDocument/2006/relationships" id="275" r:id="R8c62cfdb331c4672"/>
    <p:sldId xmlns:r="http://schemas.openxmlformats.org/officeDocument/2006/relationships" id="276" r:id="R07e659f8695a4f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e1af624474245" /><Relationship Type="http://schemas.openxmlformats.org/officeDocument/2006/relationships/slideMaster" Target="/ppt/slideMasters/slideMaster1.xml" Id="R51e7b45031604d23" /><Relationship Type="http://schemas.openxmlformats.org/officeDocument/2006/relationships/notesMaster" Target="/ppt/notesMasters/notesMaster1.xml" Id="R582fd6490fda48a8" /><Relationship Type="http://schemas.openxmlformats.org/officeDocument/2006/relationships/presProps" Target="/ppt/presProps.xml" Id="R07c164a8242c4881" /><Relationship Type="http://schemas.openxmlformats.org/officeDocument/2006/relationships/tableStyles" Target="/ppt/tableStyles.xml" Id="R51f348b446c24ffc" /><Relationship Type="http://schemas.openxmlformats.org/officeDocument/2006/relationships/slide" Target="/ppt/slides/slide1.xml" Id="R4885e8700ef24865" /><Relationship Type="http://schemas.openxmlformats.org/officeDocument/2006/relationships/slide" Target="/ppt/slides/slide2.xml" Id="R8e880f1e37064a07" /><Relationship Type="http://schemas.openxmlformats.org/officeDocument/2006/relationships/slide" Target="/ppt/slides/slide3.xml" Id="Re1ad92a08d514f19" /><Relationship Type="http://schemas.openxmlformats.org/officeDocument/2006/relationships/slide" Target="/ppt/slides/slide4.xml" Id="R82b4980680064a31" /><Relationship Type="http://schemas.openxmlformats.org/officeDocument/2006/relationships/slide" Target="/ppt/slides/slide5.xml" Id="R59813e02876f450d" /><Relationship Type="http://schemas.openxmlformats.org/officeDocument/2006/relationships/slide" Target="/ppt/slides/slide6.xml" Id="R447f6d905b814e78" /><Relationship Type="http://schemas.openxmlformats.org/officeDocument/2006/relationships/slide" Target="/ppt/slides/slide7.xml" Id="R72a9d76fc54d43d2" /><Relationship Type="http://schemas.openxmlformats.org/officeDocument/2006/relationships/slide" Target="/ppt/slides/slide8.xml" Id="R89f8eeba5a534e66" /><Relationship Type="http://schemas.openxmlformats.org/officeDocument/2006/relationships/slide" Target="/ppt/slides/slide9.xml" Id="R83d69dc420144f81" /><Relationship Type="http://schemas.openxmlformats.org/officeDocument/2006/relationships/slide" Target="/ppt/slides/slide10.xml" Id="R2340345e6fb54001" /><Relationship Type="http://schemas.openxmlformats.org/officeDocument/2006/relationships/slide" Target="/ppt/slides/slide11.xml" Id="Rce4f187e5ea94fd6" /><Relationship Type="http://schemas.openxmlformats.org/officeDocument/2006/relationships/slide" Target="/ppt/slides/slide12.xml" Id="Rf8d6317c375e4041" /><Relationship Type="http://schemas.openxmlformats.org/officeDocument/2006/relationships/slide" Target="/ppt/slides/slide13.xml" Id="Rd0d159d58e104297" /><Relationship Type="http://schemas.openxmlformats.org/officeDocument/2006/relationships/slide" Target="/ppt/slides/slide14.xml" Id="R2d03c9c6f6c34448" /><Relationship Type="http://schemas.openxmlformats.org/officeDocument/2006/relationships/slide" Target="/ppt/slides/slide15.xml" Id="Rc022b3f989174522" /><Relationship Type="http://schemas.openxmlformats.org/officeDocument/2006/relationships/slide" Target="/ppt/slides/slide16.xml" Id="Rb75822cdd2454841" /><Relationship Type="http://schemas.openxmlformats.org/officeDocument/2006/relationships/slide" Target="/ppt/slides/slide17.xml" Id="Re6be61901a6d4128" /><Relationship Type="http://schemas.openxmlformats.org/officeDocument/2006/relationships/slide" Target="/ppt/slides/slide18.xml" Id="R1b9b581d72dc4688" /><Relationship Type="http://schemas.openxmlformats.org/officeDocument/2006/relationships/slide" Target="/ppt/slides/slide19.xml" Id="Re9117aba84354622" /><Relationship Type="http://schemas.openxmlformats.org/officeDocument/2006/relationships/slide" Target="/ppt/slides/slide20.xml" Id="R8c62cfdb331c4672" /><Relationship Type="http://schemas.openxmlformats.org/officeDocument/2006/relationships/slide" Target="/ppt/slides/slide21.xml" Id="R07e659f8695a4f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de82e4958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907bb208c4dad" /><Relationship Type="http://schemas.openxmlformats.org/officeDocument/2006/relationships/notesMaster" Target="/ppt/notesMasters/notesMaster1.xml" Id="R71c1dd9ca3e8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4a88b60ba4462" /><Relationship Type="http://schemas.openxmlformats.org/officeDocument/2006/relationships/notesMaster" Target="/ppt/notesMasters/notesMaster1.xml" Id="Ra71027df4764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7bcfb3c0d44d13" /><Relationship Type="http://schemas.openxmlformats.org/officeDocument/2006/relationships/notesMaster" Target="/ppt/notesMasters/notesMaster1.xml" Id="Read70c9ec0794f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ee9792d1144919" /><Relationship Type="http://schemas.openxmlformats.org/officeDocument/2006/relationships/notesMaster" Target="/ppt/notesMasters/notesMaster1.xml" Id="R20afcf36c77d4c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009e5d9c842aa" /><Relationship Type="http://schemas.openxmlformats.org/officeDocument/2006/relationships/notesMaster" Target="/ppt/notesMasters/notesMaster1.xml" Id="R9c9fe48a5a0c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9d9365f0c4726" /><Relationship Type="http://schemas.openxmlformats.org/officeDocument/2006/relationships/notesMaster" Target="/ppt/notesMasters/notesMaster1.xml" Id="R9c83806641fb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f08fa176fe496c" /><Relationship Type="http://schemas.openxmlformats.org/officeDocument/2006/relationships/notesMaster" Target="/ppt/notesMasters/notesMaster1.xml" Id="R8d24f58230c4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8746823bd74905" /><Relationship Type="http://schemas.openxmlformats.org/officeDocument/2006/relationships/notesMaster" Target="/ppt/notesMasters/notesMaster1.xml" Id="R29cd5cdf963d48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855994bba472b" /><Relationship Type="http://schemas.openxmlformats.org/officeDocument/2006/relationships/notesMaster" Target="/ppt/notesMasters/notesMaster1.xml" Id="R7c75ef627ee948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f88ffc2e0d48c9" /><Relationship Type="http://schemas.openxmlformats.org/officeDocument/2006/relationships/notesMaster" Target="/ppt/notesMasters/notesMaster1.xml" Id="Rec640f7b63334b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945f5e1a934f41" /><Relationship Type="http://schemas.openxmlformats.org/officeDocument/2006/relationships/notesMaster" Target="/ppt/notesMasters/notesMaster1.xml" Id="R44a792597f6d4d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4690653aea4c9c" /><Relationship Type="http://schemas.openxmlformats.org/officeDocument/2006/relationships/notesMaster" Target="/ppt/notesMasters/notesMaster1.xml" Id="R675f4657446b41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199229e7d345e0" /><Relationship Type="http://schemas.openxmlformats.org/officeDocument/2006/relationships/notesMaster" Target="/ppt/notesMasters/notesMaster1.xml" Id="R3f479f8b254a49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9cd8a1eaa84a9f" /><Relationship Type="http://schemas.openxmlformats.org/officeDocument/2006/relationships/notesMaster" Target="/ppt/notesMasters/notesMaster1.xml" Id="Rf7ed0b45e4de4f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c6ce6e295e44c7" /><Relationship Type="http://schemas.openxmlformats.org/officeDocument/2006/relationships/notesMaster" Target="/ppt/notesMasters/notesMaster1.xml" Id="R5314788683c041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731c3af8284431" /><Relationship Type="http://schemas.openxmlformats.org/officeDocument/2006/relationships/notesMaster" Target="/ppt/notesMasters/notesMaster1.xml" Id="Rdf714f091f8e4e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c9c84883f64126" /><Relationship Type="http://schemas.openxmlformats.org/officeDocument/2006/relationships/notesMaster" Target="/ppt/notesMasters/notesMaster1.xml" Id="Ra9b3cfbd5bfe4c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22b5cf21b54a59" /><Relationship Type="http://schemas.openxmlformats.org/officeDocument/2006/relationships/notesMaster" Target="/ppt/notesMasters/notesMaster1.xml" Id="R205e1fe96b0146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7aa2aba2134343" /><Relationship Type="http://schemas.openxmlformats.org/officeDocument/2006/relationships/notesMaster" Target="/ppt/notesMasters/notesMaster1.xml" Id="R6526488ae6bf4c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a89c2604a34f18" /><Relationship Type="http://schemas.openxmlformats.org/officeDocument/2006/relationships/notesMaster" Target="/ppt/notesMasters/notesMaster1.xml" Id="Re2304789908146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31e6c655644239" /><Relationship Type="http://schemas.openxmlformats.org/officeDocument/2006/relationships/notesMaster" Target="/ppt/notesMasters/notesMaster1.xml" Id="R3e7bd444e288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NOSTOS 개발완료보고서 표지.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docs/media/nostos-essence/README.md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배경: 주행 중 거리·소음·시선 분산·긴급 전달 문제.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docs/study/NOSTOS_QA.md</a:t>
            </a:r>
          </a:p>
          <a:p xmlns:a="http://schemas.openxmlformats.org/drawingml/2006/main">
            <a:r>
              <a:t>- docs/media/nostos-essence/README.md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동기와 개념: 장치 연결보다 그룹 상태 공유를 중심으로 설명.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docs/study/NOSTOS_QA.md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목표·필요성과 제출 요구 링크.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code: https://github.com/snowflake-rider/nostos</a:t>
            </a:r>
          </a:p>
          <a:p xmlns:a="http://schemas.openxmlformats.org/drawingml/2006/main">
            <a:r>
              <a:t>- Demo video: https://github.com/snowflake-rider/nostos/blob/main/docs/media/nostos-essence/public/video/nostos-ride-signals.mp4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firmware/protocol/README.md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환경과 전체 기능 설계도.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PINS.md</a:t>
            </a:r>
          </a:p>
          <a:p xmlns:a="http://schemas.openxmlformats.org/drawingml/2006/main">
            <a:r>
              <a:t>- firmware/protocol/README.md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노드 profile과 공통 장치. 초음파 센서는 SSOT 근거가 없어 제외.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PINS.md</a:t>
            </a:r>
          </a:p>
          <a:p xmlns:a="http://schemas.openxmlformats.org/drawingml/2006/main">
            <a:r>
              <a:t>- docs/adr/0006-rider-node-id-separates-identity-from-capabilities.md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검사 결과와 실물 검증 경계를 분리한다.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firmware/stm32/host-tests/</a:t>
            </a:r>
          </a:p>
          <a:p xmlns:a="http://schemas.openxmlformats.org/drawingml/2006/main">
            <a:r>
              <a:t>- firmware/esp32/host-tests/</a:t>
            </a:r>
          </a:p>
          <a:p xmlns:a="http://schemas.openxmlformats.org/drawingml/2006/main">
            <a:r>
              <a:t>- firmware/protocol/tests/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파일 구조와 호출 흐름.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STRUCTURE.md</a:t>
            </a:r>
          </a:p>
          <a:p xmlns:a="http://schemas.openxmlformats.org/drawingml/2006/main">
            <a:r>
              <a:t>- firmware/stm32/MyApp/</a:t>
            </a:r>
          </a:p>
          <a:p xmlns:a="http://schemas.openxmlformats.org/drawingml/2006/main">
            <a:r>
              <a:t>- firmware/protocol/</a:t>
            </a:r>
          </a:p>
          <a:p xmlns:a="http://schemas.openxmlformats.org/drawingml/2006/main">
            <a:r>
              <a:t>- firmware/esp32/main/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버튼·RGB·부저 구현. 출력 모듈 구현과 전체 실물 연동 완료는 구분한다.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firmware/stm32/MyApp/hw/button.c</a:t>
            </a:r>
          </a:p>
          <a:p xmlns:a="http://schemas.openxmlformats.org/drawingml/2006/main">
            <a:r>
              <a:t>- firmware/stm32/MyApp/service/alert.c</a:t>
            </a:r>
          </a:p>
          <a:p xmlns:a="http://schemas.openxmlformats.org/drawingml/2006/main">
            <a:r>
              <a:t>- firmware/stm32/MyApp/hw/buzzer.c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OLED의 발신자 표기는 FRONT/REAR/CENTER가 아니라 N{sender_id}. 32 B 처리는 협력적 증분 처리.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firmware/stm32/MyApp/service/display_service.c</a:t>
            </a:r>
          </a:p>
          <a:p xmlns:a="http://schemas.openxmlformats.org/drawingml/2006/main">
            <a:r>
              <a:t>- firmware/stm32/MyApp/hw/vs1003b.c</a:t>
            </a:r>
          </a:p>
          <a:p xmlns:a="http://schemas.openxmlformats.org/drawingml/2006/main">
            <a:r>
              <a:t>- firmware/stm32/MyApp/service/audio_service.c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낙상 판단 임계값은 코드 상수와 host test 근거. 초음파 센서는 현재 SSOT에 없음.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firmware/stm32/MyApp/service/safety_detector.c</a:t>
            </a:r>
          </a:p>
          <a:p xmlns:a="http://schemas.openxmlformats.org/drawingml/2006/main">
            <a:r>
              <a:t>- firmware/stm32/MyApp/service/safety_service.c</a:t>
            </a:r>
          </a:p>
          <a:p xmlns:a="http://schemas.openxmlformats.org/drawingml/2006/main">
            <a:r>
              <a:t>- firmware/stm32/host-tests/test_safety_calibration.c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STOP_ACK는 상대 STM32 application 수락이며 물리 출력 완료를 의미하지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firmware/esp32/main/application_runtime.c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Pico 검토·긴급 조달·2~3일은 팀 회고. Provisioning 키/모델 설정은 외부 Provisioner가 수행.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firmware/esp32/main/mesh_node.c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docs/study/NOSTOS_QA.md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전원·장소·USB 허브 이슈는 팀 회고. 전압 강하와 장치 충돌은 추정 원인으로만 표기.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firmware/stm32/MyApp/hw/button.c</a:t>
            </a:r>
          </a:p>
          <a:p xmlns:a="http://schemas.openxmlformats.org/drawingml/2006/main">
            <a:r>
              <a:t>- firmware/stm32/MyApp/hw/vs1003b.c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멀티모달 인터페이스의 차별성. 실물 통합 완료 주장 없이 구현 구조 중심으로 설명.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firmware/stm32/MyApp/service/display_service.c</a:t>
            </a:r>
          </a:p>
          <a:p xmlns:a="http://schemas.openxmlformats.org/drawingml/2006/main">
            <a:r>
              <a:t>- firmware/stm32/MyApp/service/audio_service.c</a:t>
            </a:r>
          </a:p>
          <a:p xmlns:a="http://schemas.openxmlformats.org/drawingml/2006/main">
            <a:r>
              <a:t>- firmware/stm32/MyApp/service/alert.c</a:t>
            </a:r>
          </a:p>
          <a:p xmlns:a="http://schemas.openxmlformats.org/drawingml/2006/main">
            <a:r>
              <a:t>- DEVICES.md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Calibration과 복합 조건 기반 낙상 감지 차별성.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firmware/stm32/MyApp/service/safety_detector.c</a:t>
            </a:r>
          </a:p>
          <a:p xmlns:a="http://schemas.openxmlformats.org/drawingml/2006/main">
            <a:r>
              <a:t>- firmware/stm32/host-tests/test_safety_calibration.c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프로토콜·신뢰성 설계의 차별성.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firmware/esp32/main/application_runtime.c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파급력은 구현 구조에서 합리적으로 기대되는 범위로 한정하며 판매·효과 수치를 만들지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docs/study/NOSTOS_QA.md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Team retrospective: goal-objective.md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발전 가능성은 검증 우선순위와 확장 방향으로 제시.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docs/study/NOSTOS_QA.md</a:t>
            </a:r>
          </a:p>
          <a:p xmlns:a="http://schemas.openxmlformats.org/drawingml/2006/main">
            <a:r>
              <a:t>- docs/media/nostos-essence/README.md</a:t>
            </a:r>
          </a:p>
          <a:p xmlns:a="http://schemas.openxmlformats.org/drawingml/2006/main">
            <a:r>
              <a:t>- Team retrospective: goal-objective.md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날짜 근거가 없어 작업 단계 중심 일정으로 작성. 2~3일은 팀 회고 출처.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STRUCTURE.md</a:t>
            </a:r>
          </a:p>
          <a:p xmlns:a="http://schemas.openxmlformats.org/drawingml/2006/main">
            <a:r>
              <a:t>- firmware/README.md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실명 정보가 제공되지 않아 역할 기준으로 업무 분장을 정리.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Team contribution text: pasted-text-1.txt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STRUCTURE.md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f702a49f84e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d3c8b1859416c" /><Relationship Type="http://schemas.openxmlformats.org/officeDocument/2006/relationships/slideLayout" Target="/ppt/slideLayouts/slideLayout1.xml" Id="Rd4854ef28baf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54ef28baf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ccf5301f4395" /><Relationship Type="http://schemas.openxmlformats.org/officeDocument/2006/relationships/image" Target="/ppt/media/image.png" Id="R50a3086f4fcc43a8" /><Relationship Type="http://schemas.openxmlformats.org/officeDocument/2006/relationships/notesSlide" Target="/ppt/notesSlides/notesSlide1.xml" Id="R8f269fcd2b95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4a2991e64573" /><Relationship Type="http://schemas.openxmlformats.org/officeDocument/2006/relationships/image" Target="/ppt/media/image.png" Id="R966c524e84174ede" /><Relationship Type="http://schemas.openxmlformats.org/officeDocument/2006/relationships/notesSlide" Target="/ppt/notesSlides/notesSlide2.xml" Id="R81b42dc85b1a4a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261453794d90" /><Relationship Type="http://schemas.openxmlformats.org/officeDocument/2006/relationships/notesSlide" Target="/ppt/notesSlides/notesSlide3.xml" Id="R24bbc871d695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43014f3e34145" /><Relationship Type="http://schemas.openxmlformats.org/officeDocument/2006/relationships/hyperlink" Target="https://github.com/snowflake-rider/nostos" TargetMode="External" Id="R61b2d6c71bfb43ee" /><Relationship Type="http://schemas.openxmlformats.org/officeDocument/2006/relationships/hyperlink" Target="https://github.com/snowflake-rider/nostos/blob/main/docs/media/nostos-essence/public/video/nostos-ride-signals.mp4" TargetMode="External" Id="Rf58e599528414d94" /><Relationship Type="http://schemas.openxmlformats.org/officeDocument/2006/relationships/notesSlide" Target="/ppt/notesSlides/notesSlide4.xml" Id="R8057ee7cc060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9ca64cce94733" /><Relationship Type="http://schemas.openxmlformats.org/officeDocument/2006/relationships/notesSlide" Target="/ppt/notesSlides/notesSlide5.xml" Id="R7a13b0dd87ed49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f3ba669a24044" /><Relationship Type="http://schemas.openxmlformats.org/officeDocument/2006/relationships/notesSlide" Target="/ppt/notesSlides/notesSlide6.xml" Id="R2e4f608ab7af46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c4c19ecb4690" /><Relationship Type="http://schemas.openxmlformats.org/officeDocument/2006/relationships/notesSlide" Target="/ppt/notesSlides/notesSlide7.xml" Id="R0ad8e6e17a8c4c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3b737627f4e19" /><Relationship Type="http://schemas.openxmlformats.org/officeDocument/2006/relationships/notesSlide" Target="/ppt/notesSlides/notesSlide8.xml" Id="R25ac01cac08a4a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cf78d3cf840fb" /><Relationship Type="http://schemas.openxmlformats.org/officeDocument/2006/relationships/notesSlide" Target="/ppt/notesSlides/notesSlide9.xml" Id="Rb5b3ae7f40ef47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c010937eb4ce8" /><Relationship Type="http://schemas.openxmlformats.org/officeDocument/2006/relationships/notesSlide" Target="/ppt/notesSlides/notesSlide10.xml" Id="Rd4f5e33c803c4c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1a7eb3b154ea5" /><Relationship Type="http://schemas.openxmlformats.org/officeDocument/2006/relationships/notesSlide" Target="/ppt/notesSlides/notesSlide11.xml" Id="R608c71731bfe4d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86c5d2fb4894" /><Relationship Type="http://schemas.openxmlformats.org/officeDocument/2006/relationships/notesSlide" Target="/ppt/notesSlides/notesSlide12.xml" Id="R5836e3a27dd342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d10896f74643" /><Relationship Type="http://schemas.openxmlformats.org/officeDocument/2006/relationships/notesSlide" Target="/ppt/notesSlides/notesSlide13.xml" Id="R69bb0a4542b74f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d2f7c46574f49" /><Relationship Type="http://schemas.openxmlformats.org/officeDocument/2006/relationships/notesSlide" Target="/ppt/notesSlides/notesSlide14.xml" Id="R9d23c5317c144c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448d4e4d34862" /><Relationship Type="http://schemas.openxmlformats.org/officeDocument/2006/relationships/notesSlide" Target="/ppt/notesSlides/notesSlide15.xml" Id="R8979bff8635a4a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af03f58f4b92" /><Relationship Type="http://schemas.openxmlformats.org/officeDocument/2006/relationships/notesSlide" Target="/ppt/notesSlides/notesSlide16.xml" Id="R99663ac1169b4e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e02668368421c" /><Relationship Type="http://schemas.openxmlformats.org/officeDocument/2006/relationships/notesSlide" Target="/ppt/notesSlides/notesSlide17.xml" Id="R7428636e047f49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3cf95a0ba488a" /><Relationship Type="http://schemas.openxmlformats.org/officeDocument/2006/relationships/notesSlide" Target="/ppt/notesSlides/notesSlide18.xml" Id="R2556916b928e48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332793fd4c57" /><Relationship Type="http://schemas.openxmlformats.org/officeDocument/2006/relationships/notesSlide" Target="/ppt/notesSlides/notesSlide19.xml" Id="Rdd0dee2e02f24b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eec9423634027" /><Relationship Type="http://schemas.openxmlformats.org/officeDocument/2006/relationships/notesSlide" Target="/ppt/notesSlides/notesSlide20.xml" Id="Ra5aee6b888ac4e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a096e2f234bb7" /><Relationship Type="http://schemas.openxmlformats.org/officeDocument/2006/relationships/notesSlide" Target="/ppt/notesSlides/notesSlide21.xml" Id="R507dcff023374d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A9AD0C96-75C4-40C2-A15C-EF2CE7C2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2AE629DF-C4CD-4911-A123-74A33F5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NOSTOS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개발완료보고서</a:t>
            </a:r>
          </a:p>
        </p:txBody>
      </p:sp>
      <p:sp>
        <p:nvSpPr>
          <p:cNvPr id="3" name="slide1-lead">
            <a:extLst xmlns:a="http://schemas.openxmlformats.org/drawingml/2006/main">
              <a:ext uri="{FF2B5EF4-FFF2-40B4-BE49-F238E27FC236}">
                <a16:creationId xmlns:a16="http://schemas.microsoft.com/office/drawing/2014/main" id="{D78BFA31-828D-404A-AE78-AC92C87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STM32F411RE·ESP32-S3 Bluetooth Mesh 기반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그룹 라이딩 안전·상태 공유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17FB-E95B-47E1-940F-2CDBE04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1-point-1-title">
            <a:extLst xmlns:a="http://schemas.openxmlformats.org/drawingml/2006/main">
              <a:ext uri="{FF2B5EF4-FFF2-40B4-BE49-F238E27FC236}">
                <a16:creationId xmlns:a16="http://schemas.microsoft.com/office/drawing/2014/main" id="{1E3AE102-34FD-4E32-9FC0-5D4C630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6" name="slide1-point-1-body">
            <a:extLst xmlns:a="http://schemas.openxmlformats.org/drawingml/2006/main">
              <a:ext uri="{FF2B5EF4-FFF2-40B4-BE49-F238E27FC236}">
                <a16:creationId xmlns:a16="http://schemas.microsoft.com/office/drawing/2014/main" id="{E178D0DF-4ED1-445B-BF59-0F65834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센서·버튼·OLED·RGB·오디오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7621-2DBF-4AF8-A888-2A09943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8" name="slide1-point-2-title">
            <a:extLst xmlns:a="http://schemas.openxmlformats.org/drawingml/2006/main">
              <a:ext uri="{FF2B5EF4-FFF2-40B4-BE49-F238E27FC236}">
                <a16:creationId xmlns:a16="http://schemas.microsoft.com/office/drawing/2014/main" id="{ABF9F5FA-9150-4E22-B8CA-08E31E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통신</a:t>
            </a:r>
          </a:p>
        </p:txBody>
      </p:sp>
      <p:sp>
        <p:nvSpPr>
          <p:cNvPr id="9" name="slide1-point-2-body">
            <a:extLst xmlns:a="http://schemas.openxmlformats.org/drawingml/2006/main">
              <a:ext uri="{FF2B5EF4-FFF2-40B4-BE49-F238E27FC236}">
                <a16:creationId xmlns:a16="http://schemas.microsoft.com/office/drawing/2014/main" id="{BDF51A71-2A91-457B-A20D-2A41F5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↔ ESP32-S3 ↔ Bluetooth Mesh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D5A7-6757-4B4A-8879-99103A2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slide1-point-3-title">
            <a:extLst xmlns:a="http://schemas.openxmlformats.org/drawingml/2006/main">
              <a:ext uri="{FF2B5EF4-FFF2-40B4-BE49-F238E27FC236}">
                <a16:creationId xmlns:a16="http://schemas.microsoft.com/office/drawing/2014/main" id="{08C98DAD-B2D2-4728-A90A-EC3341A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기능</a:t>
            </a:r>
          </a:p>
        </p:txBody>
      </p:sp>
      <p:sp>
        <p:nvSpPr>
          <p:cNvPr id="12" name="slide1-point-3-body">
            <a:extLst xmlns:a="http://schemas.openxmlformats.org/drawingml/2006/main">
              <a:ext uri="{FF2B5EF4-FFF2-40B4-BE49-F238E27FC236}">
                <a16:creationId xmlns:a16="http://schemas.microsoft.com/office/drawing/2014/main" id="{7E60AA99-F64A-477C-964B-56CF581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후보 감지와 STOP 공유</a:t>
            </a:r>
          </a:p>
        </p:txBody>
      </p:sp>
      <p:sp>
        <p:nvSpPr>
          <p:cNvPr id="13" name="slide1-image-backing">
            <a:extLst xmlns:a="http://schemas.openxmlformats.org/drawingml/2006/main">
              <a:ext uri="{FF2B5EF4-FFF2-40B4-BE49-F238E27FC236}">
                <a16:creationId xmlns:a16="http://schemas.microsoft.com/office/drawing/2014/main" id="{FADF9C22-8E30-4EFD-BD62-667F34E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8182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3086f4fcc43a8"/>
          <a:stretch xmlns:a="http://schemas.openxmlformats.org/drawingml/2006/main"/>
        </p:blipFill>
        <p:spPr>
          <a:xfrm xmlns:a="http://schemas.openxmlformats.org/drawingml/2006/main">
            <a:off x="6267450" y="1641277"/>
            <a:ext cx="5543550" cy="3118247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5" name="slide1-caption-backing">
            <a:extLst xmlns:a="http://schemas.openxmlformats.org/drawingml/2006/main">
              <a:ext uri="{FF2B5EF4-FFF2-40B4-BE49-F238E27FC236}">
                <a16:creationId xmlns:a16="http://schemas.microsoft.com/office/drawing/2014/main" id="{85485054-A65B-4976-95B4-FB3260E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124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solidFill>
              <a:srgbClr val="071421">
                <a:alpha val="80000"/>
              </a:srgbClr>
            </a:solidFill>
            <a:prstDash val="solid"/>
          </a:ln>
        </p:spPr>
      </p:sp>
      <p:sp>
        <p:nvSpPr>
          <p:cNvPr id="16" name="slide1-image-caption">
            <a:extLst xmlns:a="http://schemas.openxmlformats.org/drawingml/2006/main">
              <a:ext uri="{FF2B5EF4-FFF2-40B4-BE49-F238E27FC236}">
                <a16:creationId xmlns:a16="http://schemas.microsoft.com/office/drawing/2014/main" id="{3235A5E0-018A-423C-BCD0-7237FD8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표지 제외 본문 20페이지 · NOSTOS Team</a:t>
            </a:r>
          </a:p>
        </p:txBody>
      </p:sp>
    </p:spTree>
    <p:extLst>
      <p:ext uri="{BB962C8B-B14F-4D97-AF65-F5344CB8AC3E}">
        <p14:creationId xmlns:p14="http://schemas.microsoft.com/office/powerpoint/2010/main" val="1134346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A9AD0C96-75C4-40C2-A15C-EF2CE7C2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2AE629DF-C4CD-4911-A123-74A33F5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라이딩의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사각지대를 줄이다</a:t>
            </a:r>
          </a:p>
        </p:txBody>
      </p:sp>
      <p:sp>
        <p:nvSpPr>
          <p:cNvPr id="3" name="slide1-lead">
            <a:extLst xmlns:a="http://schemas.openxmlformats.org/drawingml/2006/main">
              <a:ext uri="{FF2B5EF4-FFF2-40B4-BE49-F238E27FC236}">
                <a16:creationId xmlns:a16="http://schemas.microsoft.com/office/drawing/2014/main" id="{D78BFA31-828D-404A-AE78-AC92C87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중 뒤를 돌아보거나 스마트폰을 조작하지 않고도,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세 라이더가 같은 팀 상태를 알아야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17FB-E95B-47E1-940F-2CDBE04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1-point-1-title">
            <a:extLst xmlns:a="http://schemas.openxmlformats.org/drawingml/2006/main">
              <a:ext uri="{FF2B5EF4-FFF2-40B4-BE49-F238E27FC236}">
                <a16:creationId xmlns:a16="http://schemas.microsoft.com/office/drawing/2014/main" id="{1E3AE102-34FD-4E32-9FC0-5D4C630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거리·소음</a:t>
            </a:r>
          </a:p>
        </p:txBody>
      </p:sp>
      <p:sp>
        <p:nvSpPr>
          <p:cNvPr id="6" name="slide1-point-1-body">
            <a:extLst xmlns:a="http://schemas.openxmlformats.org/drawingml/2006/main">
              <a:ext uri="{FF2B5EF4-FFF2-40B4-BE49-F238E27FC236}">
                <a16:creationId xmlns:a16="http://schemas.microsoft.com/office/drawing/2014/main" id="{E178D0DF-4ED1-445B-BF59-0F65834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음성과 손짓만으로는 앞·뒤 상황을 즉시 공유하기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7621-2DBF-4AF8-A888-2A09943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8" name="slide1-point-2-title">
            <a:extLst xmlns:a="http://schemas.openxmlformats.org/drawingml/2006/main">
              <a:ext uri="{FF2B5EF4-FFF2-40B4-BE49-F238E27FC236}">
                <a16:creationId xmlns:a16="http://schemas.microsoft.com/office/drawing/2014/main" id="{ABF9F5FA-9150-4E22-B8CA-08E31E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시선 분산</a:t>
            </a:r>
          </a:p>
        </p:txBody>
      </p:sp>
      <p:sp>
        <p:nvSpPr>
          <p:cNvPr id="9" name="slide1-point-2-body">
            <a:extLst xmlns:a="http://schemas.openxmlformats.org/drawingml/2006/main">
              <a:ext uri="{FF2B5EF4-FFF2-40B4-BE49-F238E27FC236}">
                <a16:creationId xmlns:a16="http://schemas.microsoft.com/office/drawing/2014/main" id="{BDF51A71-2A91-457B-A20D-2A41F5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동료 확인과 휴대전화 조작은 도로 주의를 끊고 새로운 위험을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D5A7-6757-4B4A-8879-99103A2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slide1-point-3-title">
            <a:extLst xmlns:a="http://schemas.openxmlformats.org/drawingml/2006/main">
              <a:ext uri="{FF2B5EF4-FFF2-40B4-BE49-F238E27FC236}">
                <a16:creationId xmlns:a16="http://schemas.microsoft.com/office/drawing/2014/main" id="{08C98DAD-B2D2-4728-A90A-EC3341A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긴급 전달</a:t>
            </a:r>
          </a:p>
        </p:txBody>
      </p:sp>
      <p:sp>
        <p:nvSpPr>
          <p:cNvPr id="12" name="slide1-point-3-body">
            <a:extLst xmlns:a="http://schemas.openxmlformats.org/drawingml/2006/main">
              <a:ext uri="{FF2B5EF4-FFF2-40B4-BE49-F238E27FC236}">
                <a16:creationId xmlns:a16="http://schemas.microsoft.com/office/drawing/2014/main" id="{7E60AA99-F64A-477C-964B-56CF581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정차·낙상·SOS와 같은 신호는 팀 전체에 빠르고 명확하게 전달되어야 합니다.</a:t>
            </a:r>
          </a:p>
        </p:txBody>
      </p:sp>
      <p:sp>
        <p:nvSpPr>
          <p:cNvPr id="13" name="slide1-image-backing">
            <a:extLst xmlns:a="http://schemas.openxmlformats.org/drawingml/2006/main">
              <a:ext uri="{FF2B5EF4-FFF2-40B4-BE49-F238E27FC236}">
                <a16:creationId xmlns:a16="http://schemas.microsoft.com/office/drawing/2014/main" id="{FADF9C22-8E30-4EFD-BD62-667F34E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8182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c524e84174ede"/>
          <a:stretch xmlns:a="http://schemas.openxmlformats.org/drawingml/2006/main"/>
        </p:blipFill>
        <p:spPr>
          <a:xfrm xmlns:a="http://schemas.openxmlformats.org/drawingml/2006/main">
            <a:off x="6267450" y="1641277"/>
            <a:ext cx="5543550" cy="3118247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5" name="slide1-caption-backing">
            <a:extLst xmlns:a="http://schemas.openxmlformats.org/drawingml/2006/main">
              <a:ext uri="{FF2B5EF4-FFF2-40B4-BE49-F238E27FC236}">
                <a16:creationId xmlns:a16="http://schemas.microsoft.com/office/drawing/2014/main" id="{85485054-A65B-4976-95B4-FB3260E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124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solidFill>
              <a:srgbClr val="071421">
                <a:alpha val="80000"/>
              </a:srgbClr>
            </a:solidFill>
            <a:prstDash val="solid"/>
          </a:ln>
        </p:spPr>
      </p:sp>
      <p:sp>
        <p:nvSpPr>
          <p:cNvPr id="16" name="slide1-image-caption">
            <a:extLst xmlns:a="http://schemas.openxmlformats.org/drawingml/2006/main">
              <a:ext uri="{FF2B5EF4-FFF2-40B4-BE49-F238E27FC236}">
                <a16:creationId xmlns:a16="http://schemas.microsoft.com/office/drawing/2014/main" id="{3235A5E0-018A-423C-BCD0-7237FD8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명의 라이더가 하나의 그룹 상태를 공유</a:t>
            </a:r>
          </a:p>
        </p:txBody>
      </p:sp>
    </p:spTree>
    <p:extLst>
      <p:ext uri="{BB962C8B-B14F-4D97-AF65-F5344CB8AC3E}">
        <p14:creationId xmlns:p14="http://schemas.microsoft.com/office/powerpoint/2010/main" val="1134346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핵심 동기는 '장치 연결'이 아니라 '상태 공유'입니다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각 라이더의 센서·버튼 정보를 필요한 순간에 그룹 전체의 시각·음성 알림으로 바꾸는 것이 개발의 출발점입니다.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개발 동기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각자의 장치가 보는 정보를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팀 전체의 판단 근거로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일대일 통신의 거리 한계보다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다수 노드 확장성을 우선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무선 장애에도 로컬 센서·알림은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독립적으로 유지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개발 개념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제어와 무선 전송을 분리하고, 표준화된 메시지 흐름으로 연결합니다.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베어러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공유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ESP32-S3 /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OLED·LED·음성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설계 원칙  |  STM32: 센서·출력  ·  ESP32-S3: UART↔Bluetooth Mesh 브릿지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목표는 세 노드를 하나의 안전한 주행 그룹으로 묶는 것입니다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운전자의 시선은 도로에, 팀 정보는 모든 노드에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인지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상태를 놓치지 않는다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속도·온습도·움직임과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Pace Up·Pace Down·STOP 입력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공유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상태를 그룹의 정보로 바꾸다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 ↔ UART ↔ ESP32-S3 ↔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Bluetooth Mesh 공통 메시지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정보를 즉시 반응으로 연결한다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OLED·RGB LED·오디오·부저로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신호와 긴급 상태 알림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자료 링크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소스코드  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61b2d6c71bfb43ee"/>
              </a:rPr>
              <a:t>GitHub Repository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·   시연 영상  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f58e599528414d94"/>
              </a:rPr>
              <a:t>NOSTOS Ride Signals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제어와 무선 통신을 분리한 이중 MCU 구조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STM32는 장치 상태를, ESP32-S3는 메시지·Mesh를 담당해 변경 책임을 분리했습니다.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개발 환경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MCU  STM32F411RE + ESP32-S3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Language  Embedded 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Framework  STM32 HAL / ESP-IDF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Build  CMake + fw wrapper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HW·SW 데이터 경로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입력에서 상대 노드 출력까지 동일한 application 의미를 유지합니다.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 HAL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프레이밍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+ CRC16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무선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ESP32-S3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출력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OLED·LED·Audio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책임 분리  |  STM32: 센서·출력  ·  ESP32-S3: protocol·queue·Bluetooth Mesh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노드는 공통 출력과 서로 다른 센서 역할을 공유합니다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현재 배치 profile이며 Rider Node ID는 위치나 센서 종류와 독립적입니다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Rider Node 1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속도 상태 제공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XOSS 속도 센서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MPU·DHT 없음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Rider Node 2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환경 상태 제공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DHT11 온도·습도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그룹 상태 publish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Rider Node 3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상태 제공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MPU6050 움직임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후보 로컬 판정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공통 장치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SSD1306  ·  VS1003B  ·  Button ×4  ·  RGB LED  ·  Buzzer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 도구와 검증 단계는 결과의 의미를 분리합니다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코드·빌드·실물 동작은 서로 다른 증거입니다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HAL 기반 애플리케이션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CMake + host tests 12종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센서·출력 서비스 검사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ESP32-S3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ESP-IDF Mesh runtime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ESP-IDF 5.5.5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Mesh policy + host tests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Protocol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공통 codec·UART framing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CRC16·golden bytes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경계·재동기화 검사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검증 경계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Host check PASS  ·  센서·RF·출력의 3노드 실물 E2E는 후속 검증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입력부터 Mesh까지 계층별 책임을 한 방향으로 연결했습니다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하드웨어 드라이버, 서비스, 공통 프로토콜, UART bridge, Mesh runtime을 분리했습니다.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주요 파일 구성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stm32/MyApp/hw/  장치 driver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stm32/MyApp/service/  상태·정책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protocol/  codec·UART framing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esp32/main/  bridge·Mesh runtime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프로그램 처리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각 계층은 자신의 책임만 처리하고 다음 계층에 명시적으로 전달합니다.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드라이버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hw/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서비스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service/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protocol/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브리지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↔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상태·출력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구조 원칙  |  단일 protocol contract를 STM32와 ESP32가 함께 사용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물리 입력은 한 번의 의도를 안정된 이벤트로 바꿉니다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내부 Pull-up·30 ms debounce·1회 press event로 중복 입력을 줄였습니다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버튼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요청과 로컬 초기화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B1 Speed Up · B2 Speed Down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B3 STOP · B4 Local Reset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RGB LED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요청 종류를 색으로 구분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Green · Yellow · Red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일반 입력은 2초간 표시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긴급 출력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낙상을 우선 상태로 표시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Red 200 ms Blink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Buzzer 300/150 ms ×3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추가 입력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Calibration 필요 상태에서 Button 1을 3초 Hold하면 재시도 세션 시작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화면과 음성을 결합하되 처리 경로는 협력적으로 유지합니다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OLED는 상태를 구조화해 보여 주고, VS1003B는 최대 32 B 단위로 음원을 전송합니다.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SSD1306 Dashboard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128×64 · I²C1 · 0x3C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Speed · Distance · Temp · Humidity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N{ID}: ACCELERATE / DECEL / 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Calibration · FALL 화면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Audio 처리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DREQ와 SCI read-back을 확인하며 장시간 일괄 전송을 피합니다.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Audio Asset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DREQ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전송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SPI2 · 32 B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계속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Next Cycle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구현 경계  |  재생 API·driver 구현 · 앱 루프 통합·실물 재생은 추가 확인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낙상은 단일 기울기가 아니라 시간 순서를 가진 복합 조건입니다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충격 후보를 먼저 잡고, 자세 변화와 보정 각속도를 관찰한 뒤 카운트다운을 시작합니다.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Calibration 기준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안정 샘플 40개 평균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합성 가속도 0.85~1.15 g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합성 각속도 ≤ 5°/s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기준 중력 방향 + Gyro Offset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낙상 판정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Raw 값을 실제 장착 기준의 상대 변화로 해석합니다.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충격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≥ 1.5 g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1~3 s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자세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&gt; 45°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회전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&lt; 100°/s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10 s → FALL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검증  |  Host logic PASS · 실제 자전거 장착·주행 임계값 검증은 후속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메시지는 수신 확인과 우선 처리까지 설계했습니다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네 메시지와 단일 wire contract로 상태·요청·확인을 구분합니다.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공통 메시지 4종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STATE_UPDATE  주행·환경 상태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PACE_REQUEST  증속·감속 요청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STOP_REQUEST  버튼·낙상 정지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STOP_ACK  상대 application 수락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STOP 전달·확인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미응답 peer만 재시도하고, 상대 STM32 수락을 ACK로 확인합니다.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발생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프레임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Local UART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전파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 Mesh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Peer ESP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수락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Peer STM32·ACK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처리 순서  |  STOP_REQUEST &gt; STOP_ACK &gt; Latest Sensor State &gt; Normal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플랫폼 전환 후에는 연결보다 운영 안정성을 먼저 설계했습니다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팀 회고의 일정 판단과 현재 코드 근거를 분리해 정리했습니다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플랫폼 결정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Pico 검토 후 ESP32-S3 확정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긴급 조달·약 2~3일 기반 구성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(팀 회고 기준)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Mesh 구현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ESP-IDF Node + Vendor Model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PB-ADV·PB-GATT 등록 지원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0xC001 Group Address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메시지 안정성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고정 큐와 최신값 분리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STOP·ACK·Normal Queue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Sensor는 Topic별 Latest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현행 상태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Relay = Enabled  ·  실제 3노드 Multi-hop 전달은 별도 실물 검증 필요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현장 통합 문제는 원인과 회피책을 구분해 기록했습니다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측정으로 확정하지 않은 원인은 가능 요인으로만 남겼습니다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입력·오디오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접점 튐과 DREQ Timing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30 ms Debounce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Timeout·SCI Read-back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전원·배선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이동 중 재배선과 공급 편차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전원 분리·케이블 고정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원인은 측정 전 가설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현장·Flash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허브 동시 Flash 오류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부품 접근성 고려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한 대씩 순차 Flash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핀맵 조기 동결 · Connector 모듈화 · 장시간 전원 시험 · 장치별 Port/Serial 지정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시각·청각 피드백으로 주행 중 화면 의존도를 낮춥니다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한 메시지를 상황에 맞는 출력으로 분해하는 멀티모달 인터페이스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즉시 입력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물리 버튼 중심 조작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복잡한 화면 조작 없이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Pace·STOP 요청 생성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시각 정보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OLED + RGB 상태 표현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수치·발신 Node·요청을 표시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색상으로 즉시 구분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청각 경고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VS1003B + Buzzer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음성 Asset과 긴급 Pattern으로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시선 분산을 보완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Raw Sensor Data가 아니라 라이더가 바로 행동할 수 있는 신호로 변환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장착 자세 Calibration이 고정 축 임계값을 대체합니다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실제 자전거 장착 상태를 정상 기준으로 저장합니다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기준 설정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40개 안정 샘플을 평균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중력 방향을 정규화하고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축별 Gyro Offset 저장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복합 판정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충격 → 자세 → 회전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하나의 축이 아니라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벡터 크기와 상대 각도 사용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상태 전환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후보 → Countdown → FALL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관찰 시간과 취소 조건으로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순간 오판을 줄이는 구조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Host Test로 알고리즘·Service 확인  ·  실제 주행 데이터 기반 Tuning 필요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단일 프로토콜과 ACK 경계가 무선 성공의 의미를 명확히 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전송 API 성공과 상대 application 수락을 같은 결과로 보지 않습니다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공통 계약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네 메시지·고정 크기 Codec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STM32와 ESP32가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같은 application 의미 사용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안전 우선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FALL STOP과 분리 Queue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STOP을 BUTTON보다 우선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 상태는 최신값 유지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확인 경계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STOP_ACK = App Accepted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미응답 Peer만 재시도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물리 출력 완료와는 구분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Latest State · Targeted STOP Retry · Volatile Dedupe로 제한된 MCU 자원 관리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자동 낙상 감지는 그룹 라이딩의 전달 공백을 줄일 수 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라이더가 버튼을 누르기 어려운 순간에도 STOP 경로를 시작합니다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안전 보조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낙상 상황 자동 공유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센서 판정을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그룹 STOP 흐름과 연결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운영 편의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스마트폰 조작 의존 감소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버튼과 시각·청각 출력을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중 빠르게 확인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응용 범위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다른 이동수단으로 확장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자전거·개인형 이동장치의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상태·낙상 알림에 적용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전제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기대 효과는 설계 가능성 기준  ·  신뢰도·오탐률은 실제 주행 데이터로 검증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실물 검증 뒤 위치·연락·소형화 기능으로 확장합니다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기능 추가보다 먼저 3노드 종단 간 증거를 확보합니다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3노드 E2E와 Multi-hop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Sensor → Mesh → Peer STM32 →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OLED·LED·Audio 관찰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고도화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데이터 기반 Tuning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임계값·오탐률·손실률·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재부팅 복구를 반복 측정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위치·연락·전원 소형화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GPS·Smartphone·보호자 알림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소형 Housing과 Battery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발전 순서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E2E Proof → Reliability Measurement → User Link → Productization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개발은 위험 기술을 앞당겨 검증하고 단계별로 통합했습니다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정확한 날짜 기록 대신 실제 작업 순서와 주요 의사결정을 기준으로 정리했습니다.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일정 운영 원칙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핵심 통신 기술 조기 검증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Pico 검토 후 ESP32-S3 전환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기능별 구현 뒤 공통 Protocol 통합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Demo 전 Power·Flash 점검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5단계 개발 일정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기획 → 플랫폼 → 기능 → 통합 → 검증·시연 순으로 진행했습니다.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요구·역할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 결정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STM32·Mesh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UART·Protocol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Host·Demo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팀 회고  |  플랫폼 전환 후 약 2~3일 내 Bluetooth Mesh 기반 구성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담당 영역을 공통 프로토콜과 통합 시험으로 연결했습니다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팀원이 작성한 기능을 현재 코드 기준의 역할 단위로 재정리했습니다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안전 감지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MPU6050 낙상 판단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Calibration·충격·자세·회전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Safety Service·Host Test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사용자 인터페이스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입력과 멀티모달 출력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Button·RGB·Buzzer·OLED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VS1003B Driver·Service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무선·통합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ESP32-S3 Mesh Bridge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UART·Protocol·Queue·Relay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Provisioning Support·Demo 통합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공동 업무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핀·전원 통합 · Host Check · 3노드 검증 계획 · 현장 Demo 운영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2026-09-02T22:02:00.9240000Z</dcterms:created>
  <dcterms:modified xsi:type="dcterms:W3CDTF">2026-09-02T22:02:00.9240000Z</dcterms:modified>
</coreProperties>
</file>