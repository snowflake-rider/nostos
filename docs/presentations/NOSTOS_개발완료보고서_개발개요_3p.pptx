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815e85a75e46f2" /><Relationship Type="http://schemas.openxmlformats.org/officeDocument/2006/relationships/extended-properties" Target="/docProps/app.xml" Id="Rf8879f756e25457f" /><Relationship Type="http://schemas.openxmlformats.org/officeDocument/2006/relationships/officeDocument" Target="/ppt/presentation.xml" Id="Re5c44478b46d40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f50dc940f04110"/>
  </p:sldMasterIdLst>
  <p:notesMasterIdLst>
    <p:notesMasterId xmlns:r="http://schemas.openxmlformats.org/officeDocument/2006/relationships" r:id="R492c082e62604ccc"/>
  </p:notesMasterIdLst>
  <p:sldIdLst>
    <p:sldId xmlns:r="http://schemas.openxmlformats.org/officeDocument/2006/relationships" id="256" r:id="R581faae5dbf24afb"/>
    <p:sldId xmlns:r="http://schemas.openxmlformats.org/officeDocument/2006/relationships" id="257" r:id="Rebc5338d5faa47d8"/>
    <p:sldId xmlns:r="http://schemas.openxmlformats.org/officeDocument/2006/relationships" id="258" r:id="R7cf885c57d9948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23964b24fe4cdd" /><Relationship Type="http://schemas.openxmlformats.org/officeDocument/2006/relationships/slideMaster" Target="/ppt/slideMasters/slideMaster1.xml" Id="Rbbf50dc940f04110" /><Relationship Type="http://schemas.openxmlformats.org/officeDocument/2006/relationships/notesMaster" Target="/ppt/notesMasters/notesMaster1.xml" Id="R492c082e62604ccc" /><Relationship Type="http://schemas.openxmlformats.org/officeDocument/2006/relationships/presProps" Target="/ppt/presProps.xml" Id="R1f155f568b464d74" /><Relationship Type="http://schemas.openxmlformats.org/officeDocument/2006/relationships/tableStyles" Target="/ppt/tableStyles.xml" Id="Reab5c730bd164c1b" /><Relationship Type="http://schemas.openxmlformats.org/officeDocument/2006/relationships/slide" Target="/ppt/slides/slide1.xml" Id="R581faae5dbf24afb" /><Relationship Type="http://schemas.openxmlformats.org/officeDocument/2006/relationships/slide" Target="/ppt/slides/slide2.xml" Id="Rebc5338d5faa47d8" /><Relationship Type="http://schemas.openxmlformats.org/officeDocument/2006/relationships/slide" Target="/ppt/slides/slide3.xml" Id="R7cf885c57d9948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c976c1d01040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2b4eff6c2c419f" /><Relationship Type="http://schemas.openxmlformats.org/officeDocument/2006/relationships/notesMaster" Target="/ppt/notesMasters/notesMaster1.xml" Id="Rcc03c14bea8848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4bdbf4c4e54d59" /><Relationship Type="http://schemas.openxmlformats.org/officeDocument/2006/relationships/notesMaster" Target="/ppt/notesMasters/notesMaster1.xml" Id="Rce7f26a6496a41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7948a2d5ef460f" /><Relationship Type="http://schemas.openxmlformats.org/officeDocument/2006/relationships/notesMaster" Target="/ppt/notesMasters/notesMaster1.xml" Id="R5949d57f92ac4e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자전거 주행의 핵심은 속도가 아니라 시선과 주의의 연속성입니다. NOSTOS는 이 연속성을 깨지 않고 팀 상태를 공유하기 위해 시작했습니다.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/Users/kafka/GitHub-Main/nostos/docs/study/NOSTOS_QA.md</a:t>
            </a:r>
          </a:p>
          <a:p xmlns:a="http://schemas.openxmlformats.org/drawingml/2006/main">
            <a:r>
              <a:t>- /Users/kafka/GitHub-Main/nostos/docs/media/nostos-essence/README.md</a:t>
            </a:r>
          </a:p>
          <a:p xmlns:a="http://schemas.openxmlformats.org/drawingml/2006/main">
            <a:r>
              <a:t>- /Users/kafka/GitHub-Main/nostos/docs/media/nostos-essence/public/video/nostos-ride-signals.mp4 (project-authored visual frame)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두 MCU를 쓴 이유는 기능을 늘리기 위해서가 아니라 책임을 분리하기 위해서입니다. 이 분리는 무선 변경과 로컬 장치 제어가 서로 발목을 잡지 않게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/Users/kafka/GitHub-Main/nostos/docs/study/NOSTOS_QA.md</a:t>
            </a:r>
          </a:p>
          <a:p xmlns:a="http://schemas.openxmlformats.org/drawingml/2006/main">
            <a:r>
              <a:t>- /Users/kafka/GitHub-Main/nostos/README.md</a:t>
            </a:r>
          </a:p>
          <a:p xmlns:a="http://schemas.openxmlformats.org/drawingml/2006/main">
            <a:r>
              <a:t>- /Users/kafka/GitHub-Main/nostos/firmware/README.md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성공의 기준은 센서 숫자를 많이 보여 주는 것이 아닙니다. 각 노드가 필요한 정보를 받고 즉시 행동할 수 있는 공유 상태를 만드는 것입니다.</a:t>
            </a:r>
          </a:p>
          <a:p xmlns:a="http://schemas.openxmlformats.org/drawingml/2006/main">
            <a:r>
              <a:t>검증 경계: 이 슬라이드는 제품 목표와 필요성을 설명합니다. 3노드 relay와 전체 센서 종단 검증 결과는 별도 시험 보고에서 구분해야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/Users/kafka/GitHub-Main/nostos/docs/study/NOSTOS_QA.md</a:t>
            </a:r>
          </a:p>
          <a:p xmlns:a="http://schemas.openxmlformats.org/drawingml/2006/main">
            <a:r>
              <a:t>- /Users/kafka/GitHub-Main/nostos/DEVICES.md</a:t>
            </a:r>
          </a:p>
          <a:p xmlns:a="http://schemas.openxmlformats.org/drawingml/2006/main">
            <a:r>
              <a:t>- /Users/kafka/GitHub-Main/nostos/docs/media/nostos-essence/README.md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3734393f2e43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8263f3966c4bcb" /><Relationship Type="http://schemas.openxmlformats.org/officeDocument/2006/relationships/slideLayout" Target="/ppt/slideLayouts/slideLayout1.xml" Id="Rafb8f752d1fe4e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b8f752d1fe4e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8b18299fb4e96" /><Relationship Type="http://schemas.openxmlformats.org/officeDocument/2006/relationships/image" Target="/ppt/media/image.png" Id="Rb61ab80a312144dc" /><Relationship Type="http://schemas.openxmlformats.org/officeDocument/2006/relationships/notesSlide" Target="/ppt/notesSlides/notesSlide1.xml" Id="R5756d7f7aaf64e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54ea52b9f4154" /><Relationship Type="http://schemas.openxmlformats.org/officeDocument/2006/relationships/notesSlide" Target="/ppt/notesSlides/notesSlide2.xml" Id="R9dc2fe46b6d24c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d984e20c44ec6" /><Relationship Type="http://schemas.openxmlformats.org/officeDocument/2006/relationships/notesSlide" Target="/ppt/notesSlides/notesSlide3.xml" Id="Raa52f014755546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age-1">
            <a:extLst xmlns:a="http://schemas.openxmlformats.org/drawingml/2006/main">
              <a:ext uri="{FF2B5EF4-FFF2-40B4-BE49-F238E27FC236}">
                <a16:creationId xmlns:a16="http://schemas.microsoft.com/office/drawing/2014/main" id="{A9AD0C96-75C4-40C2-A15C-EF2CE7C2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" name="slide1-title">
            <a:extLst xmlns:a="http://schemas.openxmlformats.org/drawingml/2006/main">
              <a:ext uri="{FF2B5EF4-FFF2-40B4-BE49-F238E27FC236}">
                <a16:creationId xmlns:a16="http://schemas.microsoft.com/office/drawing/2014/main" id="{2AE629DF-C4CD-4911-A123-74A33F5F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그룹 라이딩의</a:t>
            </a:r>
          </a:p>
          <a:p xmlns:a="http://schemas.openxmlformats.org/drawingml/2006/main">
            <a:pPr algn="l">
              <a:defRPr sz="36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사각지대를 줄이다</a:t>
            </a:r>
          </a:p>
        </p:txBody>
      </p:sp>
      <p:sp>
        <p:nvSpPr>
          <p:cNvPr id="3" name="slide1-lead">
            <a:extLst xmlns:a="http://schemas.openxmlformats.org/drawingml/2006/main">
              <a:ext uri="{FF2B5EF4-FFF2-40B4-BE49-F238E27FC236}">
                <a16:creationId xmlns:a16="http://schemas.microsoft.com/office/drawing/2014/main" id="{D78BFA31-828D-404A-AE78-AC92C874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주행 중 뒤를 돌아보거나 스마트폰을 조작하지 않고도,</a:t>
            </a:r>
          </a:p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세 라이더가 같은 팀 상태를 알아야 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817FB-E95B-47E1-940F-2CDBE046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0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5" name="slide1-point-1-title">
            <a:extLst xmlns:a="http://schemas.openxmlformats.org/drawingml/2006/main">
              <a:ext uri="{FF2B5EF4-FFF2-40B4-BE49-F238E27FC236}">
                <a16:creationId xmlns:a16="http://schemas.microsoft.com/office/drawing/2014/main" id="{1E3AE102-34FD-4E32-9FC0-5D4C6301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거리·소음</a:t>
            </a:r>
          </a:p>
        </p:txBody>
      </p:sp>
      <p:sp>
        <p:nvSpPr>
          <p:cNvPr id="6" name="slide1-point-1-body">
            <a:extLst xmlns:a="http://schemas.openxmlformats.org/drawingml/2006/main">
              <a:ext uri="{FF2B5EF4-FFF2-40B4-BE49-F238E27FC236}">
                <a16:creationId xmlns:a16="http://schemas.microsoft.com/office/drawing/2014/main" id="{E178D0DF-4ED1-445B-BF59-0F658343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33750"/>
            <a:ext cx="3829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음성과 손짓만으로는 앞·뒤 상황을 즉시 공유하기 어렵습니다.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27621-2DBF-4AF8-A888-2A099434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8" name="slide1-point-2-title">
            <a:extLst xmlns:a="http://schemas.openxmlformats.org/drawingml/2006/main">
              <a:ext uri="{FF2B5EF4-FFF2-40B4-BE49-F238E27FC236}">
                <a16:creationId xmlns:a16="http://schemas.microsoft.com/office/drawing/2014/main" id="{ABF9F5FA-9150-4E22-B8CA-08E31EB8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시선 분산</a:t>
            </a:r>
          </a:p>
        </p:txBody>
      </p:sp>
      <p:sp>
        <p:nvSpPr>
          <p:cNvPr id="9" name="slide1-point-2-body">
            <a:extLst xmlns:a="http://schemas.openxmlformats.org/drawingml/2006/main">
              <a:ext uri="{FF2B5EF4-FFF2-40B4-BE49-F238E27FC236}">
                <a16:creationId xmlns:a16="http://schemas.microsoft.com/office/drawing/2014/main" id="{BDF51A71-2A91-457B-A20D-2A41F52A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114800"/>
            <a:ext cx="3829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동료 확인과 휴대전화 조작은 도로 주의를 끊고 새로운 위험을 만듭니다.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CED5A7-6757-4B4A-8879-99103A21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62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11" name="slide1-point-3-title">
            <a:extLst xmlns:a="http://schemas.openxmlformats.org/drawingml/2006/main">
              <a:ext uri="{FF2B5EF4-FFF2-40B4-BE49-F238E27FC236}">
                <a16:creationId xmlns:a16="http://schemas.microsoft.com/office/drawing/2014/main" id="{08C98DAD-B2D2-4728-A90A-EC3341AD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긴급 전달</a:t>
            </a:r>
          </a:p>
        </p:txBody>
      </p:sp>
      <p:sp>
        <p:nvSpPr>
          <p:cNvPr id="12" name="slide1-point-3-body">
            <a:extLst xmlns:a="http://schemas.openxmlformats.org/drawingml/2006/main">
              <a:ext uri="{FF2B5EF4-FFF2-40B4-BE49-F238E27FC236}">
                <a16:creationId xmlns:a16="http://schemas.microsoft.com/office/drawing/2014/main" id="{7E60AA99-F64A-477C-964B-56CF5814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95850"/>
            <a:ext cx="3829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정차·낙상·SOS와 같은 신호는 팀 전체에 빠르고 명확하게 전달되어야 합니다.</a:t>
            </a:r>
          </a:p>
        </p:txBody>
      </p:sp>
      <p:sp>
        <p:nvSpPr>
          <p:cNvPr id="13" name="slide1-image-backing">
            <a:extLst xmlns:a="http://schemas.openxmlformats.org/drawingml/2006/main">
              <a:ext uri="{FF2B5EF4-FFF2-40B4-BE49-F238E27FC236}">
                <a16:creationId xmlns:a16="http://schemas.microsoft.com/office/drawing/2014/main" id="{FADF9C22-8E30-4EFD-BD62-667F34EE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43550" cy="5600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08182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ab80a312144dc"/>
          <a:stretch xmlns:a="http://schemas.openxmlformats.org/drawingml/2006/main"/>
        </p:blipFill>
        <p:spPr>
          <a:xfrm xmlns:a="http://schemas.openxmlformats.org/drawingml/2006/main">
            <a:off x="6267450" y="1641277"/>
            <a:ext cx="5543550" cy="3118247"/>
          </a:xfrm>
          <a:prstGeom xmlns:a="http://schemas.openxmlformats.org/drawingml/2006/main" prst="roundRect">
            <a:avLst>
              <a:gd name="adj" fmla="val 2062"/>
            </a:avLst>
          </a:prstGeom>
        </p:spPr>
      </p:pic>
      <p:sp>
        <p:nvSpPr>
          <p:cNvPr id="15" name="slide1-caption-backing">
            <a:extLst xmlns:a="http://schemas.openxmlformats.org/drawingml/2006/main">
              <a:ext uri="{FF2B5EF4-FFF2-40B4-BE49-F238E27FC236}">
                <a16:creationId xmlns:a16="http://schemas.microsoft.com/office/drawing/2014/main" id="{85485054-A65B-4976-95B4-FB3260EF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19700"/>
            <a:ext cx="51244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solidFill>
              <a:srgbClr val="071421">
                <a:alpha val="80000"/>
              </a:srgbClr>
            </a:solidFill>
            <a:prstDash val="solid"/>
          </a:ln>
        </p:spPr>
      </p:sp>
      <p:sp>
        <p:nvSpPr>
          <p:cNvPr id="16" name="slide1-image-caption">
            <a:extLst xmlns:a="http://schemas.openxmlformats.org/drawingml/2006/main">
              <a:ext uri="{FF2B5EF4-FFF2-40B4-BE49-F238E27FC236}">
                <a16:creationId xmlns:a16="http://schemas.microsoft.com/office/drawing/2014/main" id="{3235A5E0-018A-423C-BCD0-7237FD8E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62575"/>
            <a:ext cx="474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세 명의 라이더가 하나의 그룹 상태를 공유</a:t>
            </a:r>
          </a:p>
        </p:txBody>
      </p:sp>
    </p:spTree>
    <p:extLst>
      <p:ext uri="{BB962C8B-B14F-4D97-AF65-F5344CB8AC3E}">
        <p14:creationId xmlns:p14="http://schemas.microsoft.com/office/powerpoint/2010/main" val="11343460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age-2">
            <a:extLst xmlns:a="http://schemas.openxmlformats.org/drawingml/2006/main">
              <a:ext uri="{FF2B5EF4-FFF2-40B4-BE49-F238E27FC236}">
                <a16:creationId xmlns:a16="http://schemas.microsoft.com/office/drawing/2014/main" id="{43E4853A-ED3A-4E6C-981F-A8AA3BB3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slide2-title">
            <a:extLst xmlns:a="http://schemas.openxmlformats.org/drawingml/2006/main">
              <a:ext uri="{FF2B5EF4-FFF2-40B4-BE49-F238E27FC236}">
                <a16:creationId xmlns:a16="http://schemas.microsoft.com/office/drawing/2014/main" id="{05B5AFBC-DC35-4A2E-BD05-A8AE2E7F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핵심 동기는 '장치 연결'이 아니라 '상태 공유'입니다</a:t>
            </a:r>
          </a:p>
        </p:txBody>
      </p:sp>
      <p:sp>
        <p:nvSpPr>
          <p:cNvPr id="3" name="slide2-lead">
            <a:extLst xmlns:a="http://schemas.openxmlformats.org/drawingml/2006/main">
              <a:ext uri="{FF2B5EF4-FFF2-40B4-BE49-F238E27FC236}">
                <a16:creationId xmlns:a16="http://schemas.microsoft.com/office/drawing/2014/main" id="{A65C3CA5-B091-4645-9095-C9CFF62C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각 라이더의 센서·버튼 정보를 필요한 순간에 그룹 전체의 시각·음성 알림으로 바꾸는 것이 개발의 출발점입니다.</a:t>
            </a:r>
          </a:p>
        </p:txBody>
      </p:sp>
      <p:sp>
        <p:nvSpPr>
          <p:cNvPr id="4" name="slide2-left-panel">
            <a:extLst xmlns:a="http://schemas.openxmlformats.org/drawingml/2006/main">
              <a:ext uri="{FF2B5EF4-FFF2-40B4-BE49-F238E27FC236}">
                <a16:creationId xmlns:a16="http://schemas.microsoft.com/office/drawing/2014/main" id="{08395D18-5244-4A67-8893-466F0317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42862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5" name="slide2-left-heading">
            <a:extLst xmlns:a="http://schemas.openxmlformats.org/drawingml/2006/main">
              <a:ext uri="{FF2B5EF4-FFF2-40B4-BE49-F238E27FC236}">
                <a16:creationId xmlns:a16="http://schemas.microsoft.com/office/drawing/2014/main" id="{6AF13C2D-B467-4E99-924D-A68DCC3E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개발 동기</a:t>
            </a:r>
          </a:p>
        </p:txBody>
      </p:sp>
      <p:sp>
        <p:nvSpPr>
          <p:cNvPr id="6" name="slide2-motivation-list">
            <a:extLst xmlns:a="http://schemas.openxmlformats.org/drawingml/2006/main">
              <a:ext uri="{FF2B5EF4-FFF2-40B4-BE49-F238E27FC236}">
                <a16:creationId xmlns:a16="http://schemas.microsoft.com/office/drawing/2014/main" id="{AFA73071-7B67-4FE1-B774-66C548FB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3581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각자의 장치가 보는 정보를</a:t>
            </a:r>
          </a:p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  팀 전체의 판단 근거로 전환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일대일 통신의 거리 한계보다</a:t>
            </a:r>
          </a:p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  다수 노드 확장성을 우선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무선 장애에도 로컬 센서·알림은</a:t>
            </a:r>
          </a:p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  독립적으로 유지</a:t>
            </a:r>
          </a:p>
        </p:txBody>
      </p:sp>
      <p:sp>
        <p:nvSpPr>
          <p:cNvPr id="7" name="slide2-right-heading">
            <a:extLst xmlns:a="http://schemas.openxmlformats.org/drawingml/2006/main">
              <a:ext uri="{FF2B5EF4-FFF2-40B4-BE49-F238E27FC236}">
                <a16:creationId xmlns:a16="http://schemas.microsoft.com/office/drawing/2014/main" id="{582143A8-43E6-400E-9FCE-25ECD522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336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개발 개념</a:t>
            </a:r>
          </a:p>
        </p:txBody>
      </p:sp>
      <p:sp>
        <p:nvSpPr>
          <p:cNvPr id="8" name="slide2-concept-copy">
            <a:extLst xmlns:a="http://schemas.openxmlformats.org/drawingml/2006/main">
              <a:ext uri="{FF2B5EF4-FFF2-40B4-BE49-F238E27FC236}">
                <a16:creationId xmlns:a16="http://schemas.microsoft.com/office/drawing/2014/main" id="{B3EC4D71-0BFA-4025-B17A-4937F929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146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로컬 제어와 무선 전송을 분리하고, 표준화된 메시지 흐름으로 연결합니다.</a:t>
            </a:r>
          </a:p>
        </p:txBody>
      </p:sp>
      <p:sp>
        <p:nvSpPr>
          <p:cNvPr id="9" name="slide2-flow-backbone">
            <a:extLst xmlns:a="http://schemas.openxmlformats.org/drawingml/2006/main">
              <a:ext uri="{FF2B5EF4-FFF2-40B4-BE49-F238E27FC236}">
                <a16:creationId xmlns:a16="http://schemas.microsoft.com/office/drawing/2014/main" id="{82EF2C2A-3207-4051-90FA-228A733C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14750"/>
            <a:ext cx="590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slide2-node-01">
            <a:extLst xmlns:a="http://schemas.openxmlformats.org/drawingml/2006/main">
              <a:ext uri="{FF2B5EF4-FFF2-40B4-BE49-F238E27FC236}">
                <a16:creationId xmlns:a16="http://schemas.microsoft.com/office/drawing/2014/main" id="{6442CAEB-207A-4885-A91F-FA20F6D2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A67E9-4BAF-4885-8503-548E8AE0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4E526-A5C5-496A-8A62-DB270D5F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0FB99-A48A-4259-9816-620E616F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센서·버튼</a:t>
            </a:r>
          </a:p>
        </p:txBody>
      </p:sp>
      <p:sp>
        <p:nvSpPr>
          <p:cNvPr id="14" name="slide2-node-02">
            <a:extLst xmlns:a="http://schemas.openxmlformats.org/drawingml/2006/main">
              <a:ext uri="{FF2B5EF4-FFF2-40B4-BE49-F238E27FC236}">
                <a16:creationId xmlns:a16="http://schemas.microsoft.com/office/drawing/2014/main" id="{7211E472-7066-4F39-B552-EFBCEA07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91DDA-C5D6-44B9-B432-4B420CB9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906F6-429A-41E7-8274-ACDA6B37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로컬 제어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947D7-E9F9-4D13-B76F-38EB4E43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STM32</a:t>
            </a:r>
          </a:p>
        </p:txBody>
      </p:sp>
      <p:sp>
        <p:nvSpPr>
          <p:cNvPr id="18" name="slide2-node-03">
            <a:extLst xmlns:a="http://schemas.openxmlformats.org/drawingml/2006/main">
              <a:ext uri="{FF2B5EF4-FFF2-40B4-BE49-F238E27FC236}">
                <a16:creationId xmlns:a16="http://schemas.microsoft.com/office/drawing/2014/main" id="{5A6A458F-D709-4505-9EAB-8E2874D2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FD7D5-235B-47C7-A65E-F11E1318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12D0D8-9035-47D9-A1FF-2F05A247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베어러 전환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A80E91-EB3D-41D4-9858-13CA7D83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UART</a:t>
            </a:r>
          </a:p>
        </p:txBody>
      </p:sp>
      <p:sp>
        <p:nvSpPr>
          <p:cNvPr id="22" name="slide2-node-04">
            <a:extLst xmlns:a="http://schemas.openxmlformats.org/drawingml/2006/main">
              <a:ext uri="{FF2B5EF4-FFF2-40B4-BE49-F238E27FC236}">
                <a16:creationId xmlns:a16="http://schemas.microsoft.com/office/drawing/2014/main" id="{6F72293A-8B83-431B-B9C5-2554B2F1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C6EEB-545C-4220-8187-D4BE69F5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BFE9AC-B825-459E-9BD0-9B7710E1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그룹 공유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4DB81E-670A-475F-9B1C-0F10A144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ESP32-S3 / Mesh</a:t>
            </a:r>
          </a:p>
        </p:txBody>
      </p:sp>
      <p:sp>
        <p:nvSpPr>
          <p:cNvPr id="26" name="slide2-node-05">
            <a:extLst xmlns:a="http://schemas.openxmlformats.org/drawingml/2006/main">
              <a:ext uri="{FF2B5EF4-FFF2-40B4-BE49-F238E27FC236}">
                <a16:creationId xmlns:a16="http://schemas.microsoft.com/office/drawing/2014/main" id="{A5652BA0-280C-4D6C-8BA3-9D7A9F3B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394809-872D-40E3-81E9-C7D9AEA2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A668B7-24E5-45F6-8FF7-D756A9A2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로컬 알림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FC0D51-2BF8-4F8B-9871-0CD4E772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OLED·LED·음성</a:t>
            </a:r>
          </a:p>
        </p:txBody>
      </p:sp>
      <p:sp>
        <p:nvSpPr>
          <p:cNvPr id="30" name="slide2-takeaway">
            <a:extLst xmlns:a="http://schemas.openxmlformats.org/drawingml/2006/main">
              <a:ext uri="{FF2B5EF4-FFF2-40B4-BE49-F238E27FC236}">
                <a16:creationId xmlns:a16="http://schemas.microsoft.com/office/drawing/2014/main" id="{1C140DF5-19A1-4AC8-BCC2-441E2489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34000"/>
            <a:ext cx="657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31" name="slide2-takeaway-copy">
            <a:extLst xmlns:a="http://schemas.openxmlformats.org/drawingml/2006/main">
              <a:ext uri="{FF2B5EF4-FFF2-40B4-BE49-F238E27FC236}">
                <a16:creationId xmlns:a16="http://schemas.microsoft.com/office/drawing/2014/main" id="{55E0945A-A215-458F-9150-77D14E1E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9592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설계 원칙  |  STM32: 센서·출력  ·  ESP32-S3: UART↔Bluetooth Mesh 브릿지</a:t>
            </a:r>
          </a:p>
        </p:txBody>
      </p:sp>
    </p:spTree>
    <p:extLst>
      <p:ext uri="{BB962C8B-B14F-4D97-AF65-F5344CB8AC3E}">
        <p14:creationId xmlns:p14="http://schemas.microsoft.com/office/powerpoint/2010/main" val="12756997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age-3">
            <a:extLst xmlns:a="http://schemas.openxmlformats.org/drawingml/2006/main">
              <a:ext uri="{FF2B5EF4-FFF2-40B4-BE49-F238E27FC236}">
                <a16:creationId xmlns:a16="http://schemas.microsoft.com/office/drawing/2014/main" id="{89D93394-B947-41D7-A418-89142998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slide3-title">
            <a:extLst xmlns:a="http://schemas.openxmlformats.org/drawingml/2006/main">
              <a:ext uri="{FF2B5EF4-FFF2-40B4-BE49-F238E27FC236}">
                <a16:creationId xmlns:a16="http://schemas.microsoft.com/office/drawing/2014/main" id="{8DD664C0-BF08-4BE0-B5B5-88118C78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목표는 세 노드를 하나의 안전한 주행 그룹으로 묶는 것입니다</a:t>
            </a:r>
          </a:p>
        </p:txBody>
      </p:sp>
      <p:sp>
        <p:nvSpPr>
          <p:cNvPr id="3" name="slide3-thesis">
            <a:extLst xmlns:a="http://schemas.openxmlformats.org/drawingml/2006/main">
              <a:ext uri="{FF2B5EF4-FFF2-40B4-BE49-F238E27FC236}">
                <a16:creationId xmlns:a16="http://schemas.microsoft.com/office/drawing/2014/main" id="{960CC135-1ABD-47AD-87D6-8A629D98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운전자의 시선은 도로에, 팀 정보는 모든 노드에</a:t>
            </a:r>
          </a:p>
        </p:txBody>
      </p:sp>
      <p:sp>
        <p:nvSpPr>
          <p:cNvPr id="4" name="slide3-timeline">
            <a:extLst xmlns:a="http://schemas.openxmlformats.org/drawingml/2006/main">
              <a:ext uri="{FF2B5EF4-FFF2-40B4-BE49-F238E27FC236}">
                <a16:creationId xmlns:a16="http://schemas.microsoft.com/office/drawing/2014/main" id="{1BCBFF36-8F90-427A-870D-65527884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slide3-milestone-01">
            <a:extLst xmlns:a="http://schemas.openxmlformats.org/drawingml/2006/main">
              <a:ext uri="{FF2B5EF4-FFF2-40B4-BE49-F238E27FC236}">
                <a16:creationId xmlns:a16="http://schemas.microsoft.com/office/drawing/2014/main" id="{26E17352-4195-43AE-BFF9-3063FA6D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404A1-A00C-42CB-9EFC-8FB295EC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slide3-label-01">
            <a:extLst xmlns:a="http://schemas.openxmlformats.org/drawingml/2006/main">
              <a:ext uri="{FF2B5EF4-FFF2-40B4-BE49-F238E27FC236}">
                <a16:creationId xmlns:a16="http://schemas.microsoft.com/office/drawing/2014/main" id="{1465F0D8-DB76-41DF-95DD-FF45B976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인지</a:t>
            </a:r>
          </a:p>
        </p:txBody>
      </p:sp>
      <p:sp>
        <p:nvSpPr>
          <p:cNvPr id="8" name="slide3-panel-01">
            <a:extLst xmlns:a="http://schemas.openxmlformats.org/drawingml/2006/main">
              <a:ext uri="{FF2B5EF4-FFF2-40B4-BE49-F238E27FC236}">
                <a16:creationId xmlns:a16="http://schemas.microsoft.com/office/drawing/2014/main" id="{D86FB5A2-0CE6-42E1-B478-65FAE1CA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9" name="slide3-card-title-01">
            <a:extLst xmlns:a="http://schemas.openxmlformats.org/drawingml/2006/main">
              <a:ext uri="{FF2B5EF4-FFF2-40B4-BE49-F238E27FC236}">
                <a16:creationId xmlns:a16="http://schemas.microsoft.com/office/drawing/2014/main" id="{0A668ABF-17AB-4ED2-B424-6FE9DE40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주행 상태를 놓치지 않는다</a:t>
            </a:r>
          </a:p>
        </p:txBody>
      </p:sp>
      <p:sp>
        <p:nvSpPr>
          <p:cNvPr id="10" name="slide3-card-body-01">
            <a:extLst xmlns:a="http://schemas.openxmlformats.org/drawingml/2006/main">
              <a:ext uri="{FF2B5EF4-FFF2-40B4-BE49-F238E27FC236}">
                <a16:creationId xmlns:a16="http://schemas.microsoft.com/office/drawing/2014/main" id="{F3E35A88-3F80-4865-B09C-D792224A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속도·온습도·움직임과</a:t>
            </a:r>
          </a:p>
          <a:p xmlns:a="http://schemas.openxmlformats.org/drawingml/2006/main">
            <a:pPr algn="ctr"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Pace Up·Pace Down·STOP 입력</a:t>
            </a:r>
          </a:p>
        </p:txBody>
      </p:sp>
      <p:sp>
        <p:nvSpPr>
          <p:cNvPr id="11" name="slide3-milestone-02">
            <a:extLst xmlns:a="http://schemas.openxmlformats.org/drawingml/2006/main">
              <a:ext uri="{FF2B5EF4-FFF2-40B4-BE49-F238E27FC236}">
                <a16:creationId xmlns:a16="http://schemas.microsoft.com/office/drawing/2014/main" id="{241955A3-375F-4721-83A6-E909958A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8FB2C-0F21-4B23-BC7B-C32E8063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slide3-label-02">
            <a:extLst xmlns:a="http://schemas.openxmlformats.org/drawingml/2006/main">
              <a:ext uri="{FF2B5EF4-FFF2-40B4-BE49-F238E27FC236}">
                <a16:creationId xmlns:a16="http://schemas.microsoft.com/office/drawing/2014/main" id="{D8075EC6-B5B3-44B8-9E45-A32AD81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공유</a:t>
            </a:r>
          </a:p>
        </p:txBody>
      </p:sp>
      <p:sp>
        <p:nvSpPr>
          <p:cNvPr id="14" name="slide3-panel-02">
            <a:extLst xmlns:a="http://schemas.openxmlformats.org/drawingml/2006/main">
              <a:ext uri="{FF2B5EF4-FFF2-40B4-BE49-F238E27FC236}">
                <a16:creationId xmlns:a16="http://schemas.microsoft.com/office/drawing/2014/main" id="{3889836B-4F4B-43AC-9B8A-7622318E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5"/>
          </a:solidFill>
          <a:ln xmlns:a="http://schemas.openxmlformats.org/drawingml/2006/main" w="0">
            <a:solidFill>
              <a:srgbClr val="E8F8F5"/>
            </a:solidFill>
            <a:prstDash val="solid"/>
          </a:ln>
        </p:spPr>
      </p:sp>
      <p:sp>
        <p:nvSpPr>
          <p:cNvPr id="15" name="slide3-card-title-02">
            <a:extLst xmlns:a="http://schemas.openxmlformats.org/drawingml/2006/main">
              <a:ext uri="{FF2B5EF4-FFF2-40B4-BE49-F238E27FC236}">
                <a16:creationId xmlns:a16="http://schemas.microsoft.com/office/drawing/2014/main" id="{1287FDDF-BCAD-4F43-B0B0-7BED9E28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상태를 그룹의 정보로 바꾸다</a:t>
            </a:r>
          </a:p>
        </p:txBody>
      </p:sp>
      <p:sp>
        <p:nvSpPr>
          <p:cNvPr id="16" name="slide3-card-body-02">
            <a:extLst xmlns:a="http://schemas.openxmlformats.org/drawingml/2006/main">
              <a:ext uri="{FF2B5EF4-FFF2-40B4-BE49-F238E27FC236}">
                <a16:creationId xmlns:a16="http://schemas.microsoft.com/office/drawing/2014/main" id="{A511886D-273C-47D2-8D6B-1369A28F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STM32 ↔ UART ↔ ESP32-S3 ↔</a:t>
            </a:r>
          </a:p>
          <a:p xmlns:a="http://schemas.openxmlformats.org/drawingml/2006/main">
            <a:pPr algn="ctr"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Bluetooth Mesh 공통 메시지 흐름</a:t>
            </a:r>
          </a:p>
        </p:txBody>
      </p:sp>
      <p:sp>
        <p:nvSpPr>
          <p:cNvPr id="17" name="slide3-milestone-03">
            <a:extLst xmlns:a="http://schemas.openxmlformats.org/drawingml/2006/main">
              <a:ext uri="{FF2B5EF4-FFF2-40B4-BE49-F238E27FC236}">
                <a16:creationId xmlns:a16="http://schemas.microsoft.com/office/drawing/2014/main" id="{387B5CBA-3928-4B29-8651-7E677ABA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A4D29-8415-4BF1-8862-29EB360E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slide3-label-03">
            <a:extLst xmlns:a="http://schemas.openxmlformats.org/drawingml/2006/main">
              <a:ext uri="{FF2B5EF4-FFF2-40B4-BE49-F238E27FC236}">
                <a16:creationId xmlns:a16="http://schemas.microsoft.com/office/drawing/2014/main" id="{724D1554-AC24-416F-A2FA-93573F64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CF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7C6CF2"/>
                </a:solidFill>
                <a:latin typeface="Apple SD Gothic Neo"/>
                <a:ea typeface="Apple SD Gothic Neo"/>
                <a:cs typeface="Apple SD Gothic Neo"/>
              </a:rPr>
              <a:t>행동</a:t>
            </a:r>
          </a:p>
        </p:txBody>
      </p:sp>
      <p:sp>
        <p:nvSpPr>
          <p:cNvPr id="20" name="slide3-panel-03">
            <a:extLst xmlns:a="http://schemas.openxmlformats.org/drawingml/2006/main">
              <a:ext uri="{FF2B5EF4-FFF2-40B4-BE49-F238E27FC236}">
                <a16:creationId xmlns:a16="http://schemas.microsoft.com/office/drawing/2014/main" id="{A793B8B0-E507-4561-8BCE-582A474C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FE"/>
          </a:solidFill>
          <a:ln xmlns:a="http://schemas.openxmlformats.org/drawingml/2006/main" w="0">
            <a:solidFill>
              <a:srgbClr val="F1EFFE"/>
            </a:solidFill>
            <a:prstDash val="solid"/>
          </a:ln>
        </p:spPr>
      </p:sp>
      <p:sp>
        <p:nvSpPr>
          <p:cNvPr id="21" name="slide3-card-title-03">
            <a:extLst xmlns:a="http://schemas.openxmlformats.org/drawingml/2006/main">
              <a:ext uri="{FF2B5EF4-FFF2-40B4-BE49-F238E27FC236}">
                <a16:creationId xmlns:a16="http://schemas.microsoft.com/office/drawing/2014/main" id="{2F3CF277-E89B-4F3A-875C-AD756081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정보를 즉시 반응으로 연결한다</a:t>
            </a:r>
          </a:p>
        </p:txBody>
      </p:sp>
      <p:sp>
        <p:nvSpPr>
          <p:cNvPr id="22" name="slide3-card-body-03">
            <a:extLst xmlns:a="http://schemas.openxmlformats.org/drawingml/2006/main">
              <a:ext uri="{FF2B5EF4-FFF2-40B4-BE49-F238E27FC236}">
                <a16:creationId xmlns:a16="http://schemas.microsoft.com/office/drawing/2014/main" id="{0810072C-8C30-467E-93BA-E2E349CB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OLED·RGB LED·오디오·부저로</a:t>
            </a:r>
          </a:p>
          <a:p xmlns:a="http://schemas.openxmlformats.org/drawingml/2006/main">
            <a:pPr algn="ctr"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주행 신호와 긴급 상태 알림</a:t>
            </a:r>
          </a:p>
        </p:txBody>
      </p:sp>
      <p:sp>
        <p:nvSpPr>
          <p:cNvPr id="23" name="slide3-necessity-band">
            <a:extLst xmlns:a="http://schemas.openxmlformats.org/drawingml/2006/main">
              <a:ext uri="{FF2B5EF4-FFF2-40B4-BE49-F238E27FC236}">
                <a16:creationId xmlns:a16="http://schemas.microsoft.com/office/drawing/2014/main" id="{BD5DA097-59DA-408A-80B0-0C26E65D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9"/>
          </a:solidFill>
          <a:ln xmlns:a="http://schemas.openxmlformats.org/drawingml/2006/main" w="0">
            <a:solidFill>
              <a:srgbClr val="081829"/>
            </a:solidFill>
            <a:prstDash val="solid"/>
          </a:ln>
        </p:spPr>
      </p:sp>
      <p:sp>
        <p:nvSpPr>
          <p:cNvPr id="24" name="slide3-necessity-label">
            <a:extLst xmlns:a="http://schemas.openxmlformats.org/drawingml/2006/main">
              <a:ext uri="{FF2B5EF4-FFF2-40B4-BE49-F238E27FC236}">
                <a16:creationId xmlns:a16="http://schemas.microsoft.com/office/drawing/2014/main" id="{8742E598-2DD7-4354-B01B-A5F3EF2D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필요성</a:t>
            </a:r>
          </a:p>
        </p:txBody>
      </p:sp>
      <p:sp>
        <p:nvSpPr>
          <p:cNvPr id="25" name="slide3-necessity-copy">
            <a:extLst xmlns:a="http://schemas.openxmlformats.org/drawingml/2006/main">
              <a:ext uri="{FF2B5EF4-FFF2-40B4-BE49-F238E27FC236}">
                <a16:creationId xmlns:a16="http://schemas.microsoft.com/office/drawing/2014/main" id="{6AA583E7-948F-4808-BFE7-A5CF56C2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969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안전한 주의 유지  ·  팀 전체의 상황 인지  ·  다수 노드 확장  ·  장치·무선 책임 분리</a:t>
            </a:r>
          </a:p>
        </p:txBody>
      </p:sp>
    </p:spTree>
    <p:extLst>
      <p:ext uri="{BB962C8B-B14F-4D97-AF65-F5344CB8AC3E}">
        <p14:creationId xmlns:p14="http://schemas.microsoft.com/office/powerpoint/2010/main" val="6468278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2026-09-02T12:25:40.2530000Z</dcterms:created>
  <dcterms:modified xsi:type="dcterms:W3CDTF">2026-09-02T12:25:40.2530000Z</dcterms:modified>
</coreProperties>
</file>