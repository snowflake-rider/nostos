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16b9caa52473e" /><Relationship Type="http://schemas.openxmlformats.org/officeDocument/2006/relationships/extended-properties" Target="/docProps/app.xml" Id="Re75ba8a3b6824254" /><Relationship Type="http://schemas.openxmlformats.org/officeDocument/2006/relationships/officeDocument" Target="/ppt/presentation.xml" Id="R42a95bcd62c0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0b14be8d454ad2"/>
  </p:sldMasterIdLst>
  <p:notesMasterIdLst>
    <p:notesMasterId xmlns:r="http://schemas.openxmlformats.org/officeDocument/2006/relationships" r:id="Rc4202178e2ba4680"/>
  </p:notesMasterIdLst>
  <p:sldIdLst>
    <p:sldId xmlns:r="http://schemas.openxmlformats.org/officeDocument/2006/relationships" id="256" r:id="Rd4296854e5ac4c27"/>
    <p:sldId xmlns:r="http://schemas.openxmlformats.org/officeDocument/2006/relationships" id="257" r:id="R1c82179c39bd47fc"/>
    <p:sldId xmlns:r="http://schemas.openxmlformats.org/officeDocument/2006/relationships" id="258" r:id="R44e1bba2f8b449af"/>
    <p:sldId xmlns:r="http://schemas.openxmlformats.org/officeDocument/2006/relationships" id="259" r:id="R305eefbd9f364fcc"/>
    <p:sldId xmlns:r="http://schemas.openxmlformats.org/officeDocument/2006/relationships" id="260" r:id="R839534ac8f4c4b25"/>
    <p:sldId xmlns:r="http://schemas.openxmlformats.org/officeDocument/2006/relationships" id="261" r:id="Reb27d8dbbc534f4a"/>
    <p:sldId xmlns:r="http://schemas.openxmlformats.org/officeDocument/2006/relationships" id="262" r:id="R1c9defe058554347"/>
    <p:sldId xmlns:r="http://schemas.openxmlformats.org/officeDocument/2006/relationships" id="263" r:id="Rf7ab496e572f41bb"/>
    <p:sldId xmlns:r="http://schemas.openxmlformats.org/officeDocument/2006/relationships" id="264" r:id="Ra2cb0e2a614944cb"/>
    <p:sldId xmlns:r="http://schemas.openxmlformats.org/officeDocument/2006/relationships" id="265" r:id="R582f8e76ab644252"/>
    <p:sldId xmlns:r="http://schemas.openxmlformats.org/officeDocument/2006/relationships" id="266" r:id="R3387b5d7a7284d27"/>
    <p:sldId xmlns:r="http://schemas.openxmlformats.org/officeDocument/2006/relationships" id="267" r:id="R0695223bf71e47d3"/>
    <p:sldId xmlns:r="http://schemas.openxmlformats.org/officeDocument/2006/relationships" id="268" r:id="Rd9775ba30cbc41ab"/>
    <p:sldId xmlns:r="http://schemas.openxmlformats.org/officeDocument/2006/relationships" id="269" r:id="R172b3b2050a54a1a"/>
    <p:sldId xmlns:r="http://schemas.openxmlformats.org/officeDocument/2006/relationships" id="270" r:id="R3d47f910ebaa4cff"/>
    <p:sldId xmlns:r="http://schemas.openxmlformats.org/officeDocument/2006/relationships" id="271" r:id="R1e12e94e95444636"/>
    <p:sldId xmlns:r="http://schemas.openxmlformats.org/officeDocument/2006/relationships" id="272" r:id="Rfc19dc29a7314203"/>
    <p:sldId xmlns:r="http://schemas.openxmlformats.org/officeDocument/2006/relationships" id="273" r:id="Re28e3e27680249a5"/>
    <p:sldId xmlns:r="http://schemas.openxmlformats.org/officeDocument/2006/relationships" id="274" r:id="Rf1c3ed919a5845d8"/>
    <p:sldId xmlns:r="http://schemas.openxmlformats.org/officeDocument/2006/relationships" id="275" r:id="R34c7da4de6534a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01aad4dbdb4eaf" /><Relationship Type="http://schemas.openxmlformats.org/officeDocument/2006/relationships/slideMaster" Target="/ppt/slideMasters/slideMaster1.xml" Id="R0d0b14be8d454ad2" /><Relationship Type="http://schemas.openxmlformats.org/officeDocument/2006/relationships/notesMaster" Target="/ppt/notesMasters/notesMaster1.xml" Id="Rc4202178e2ba4680" /><Relationship Type="http://schemas.openxmlformats.org/officeDocument/2006/relationships/presProps" Target="/ppt/presProps.xml" Id="Rbdd3210faa1b4ea4" /><Relationship Type="http://schemas.openxmlformats.org/officeDocument/2006/relationships/tableStyles" Target="/ppt/tableStyles.xml" Id="Ra96a0120708d4f43" /><Relationship Type="http://schemas.openxmlformats.org/officeDocument/2006/relationships/slide" Target="/ppt/slides/slide1.xml" Id="Rd4296854e5ac4c27" /><Relationship Type="http://schemas.openxmlformats.org/officeDocument/2006/relationships/slide" Target="/ppt/slides/slide2.xml" Id="R1c82179c39bd47fc" /><Relationship Type="http://schemas.openxmlformats.org/officeDocument/2006/relationships/slide" Target="/ppt/slides/slide3.xml" Id="R44e1bba2f8b449af" /><Relationship Type="http://schemas.openxmlformats.org/officeDocument/2006/relationships/slide" Target="/ppt/slides/slide4.xml" Id="R305eefbd9f364fcc" /><Relationship Type="http://schemas.openxmlformats.org/officeDocument/2006/relationships/slide" Target="/ppt/slides/slide5.xml" Id="R839534ac8f4c4b25" /><Relationship Type="http://schemas.openxmlformats.org/officeDocument/2006/relationships/slide" Target="/ppt/slides/slide6.xml" Id="Reb27d8dbbc534f4a" /><Relationship Type="http://schemas.openxmlformats.org/officeDocument/2006/relationships/slide" Target="/ppt/slides/slide7.xml" Id="R1c9defe058554347" /><Relationship Type="http://schemas.openxmlformats.org/officeDocument/2006/relationships/slide" Target="/ppt/slides/slide8.xml" Id="Rf7ab496e572f41bb" /><Relationship Type="http://schemas.openxmlformats.org/officeDocument/2006/relationships/slide" Target="/ppt/slides/slide9.xml" Id="Ra2cb0e2a614944cb" /><Relationship Type="http://schemas.openxmlformats.org/officeDocument/2006/relationships/slide" Target="/ppt/slides/slide10.xml" Id="R582f8e76ab644252" /><Relationship Type="http://schemas.openxmlformats.org/officeDocument/2006/relationships/slide" Target="/ppt/slides/slide11.xml" Id="R3387b5d7a7284d27" /><Relationship Type="http://schemas.openxmlformats.org/officeDocument/2006/relationships/slide" Target="/ppt/slides/slide12.xml" Id="R0695223bf71e47d3" /><Relationship Type="http://schemas.openxmlformats.org/officeDocument/2006/relationships/slide" Target="/ppt/slides/slide13.xml" Id="Rd9775ba30cbc41ab" /><Relationship Type="http://schemas.openxmlformats.org/officeDocument/2006/relationships/slide" Target="/ppt/slides/slide14.xml" Id="R172b3b2050a54a1a" /><Relationship Type="http://schemas.openxmlformats.org/officeDocument/2006/relationships/slide" Target="/ppt/slides/slide15.xml" Id="R3d47f910ebaa4cff" /><Relationship Type="http://schemas.openxmlformats.org/officeDocument/2006/relationships/slide" Target="/ppt/slides/slide16.xml" Id="R1e12e94e95444636" /><Relationship Type="http://schemas.openxmlformats.org/officeDocument/2006/relationships/slide" Target="/ppt/slides/slide17.xml" Id="Rfc19dc29a7314203" /><Relationship Type="http://schemas.openxmlformats.org/officeDocument/2006/relationships/slide" Target="/ppt/slides/slide18.xml" Id="Re28e3e27680249a5" /><Relationship Type="http://schemas.openxmlformats.org/officeDocument/2006/relationships/slide" Target="/ppt/slides/slide19.xml" Id="Rf1c3ed919a5845d8" /><Relationship Type="http://schemas.openxmlformats.org/officeDocument/2006/relationships/slide" Target="/ppt/slides/slide20.xml" Id="R34c7da4de653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9536008ce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be669b1bd44f8" /><Relationship Type="http://schemas.openxmlformats.org/officeDocument/2006/relationships/notesMaster" Target="/ppt/notesMasters/notesMaster1.xml" Id="Rceec2fcf504e4f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1961b554c44d57" /><Relationship Type="http://schemas.openxmlformats.org/officeDocument/2006/relationships/notesMaster" Target="/ppt/notesMasters/notesMaster1.xml" Id="Ra842e2f8256143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29c88f3214474" /><Relationship Type="http://schemas.openxmlformats.org/officeDocument/2006/relationships/notesMaster" Target="/ppt/notesMasters/notesMaster1.xml" Id="Rb261e39bbcf7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8d1a90def4798" /><Relationship Type="http://schemas.openxmlformats.org/officeDocument/2006/relationships/notesMaster" Target="/ppt/notesMasters/notesMaster1.xml" Id="R7d4f839804834c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b25fbe37c74b75" /><Relationship Type="http://schemas.openxmlformats.org/officeDocument/2006/relationships/notesMaster" Target="/ppt/notesMasters/notesMaster1.xml" Id="R9aa5d3fcc38041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7b1a2ac9141bc" /><Relationship Type="http://schemas.openxmlformats.org/officeDocument/2006/relationships/notesMaster" Target="/ppt/notesMasters/notesMaster1.xml" Id="R9b73d345f2204e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59a57e558e4279" /><Relationship Type="http://schemas.openxmlformats.org/officeDocument/2006/relationships/notesMaster" Target="/ppt/notesMasters/notesMaster1.xml" Id="Rd2917e6f757749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736627656b4c0a" /><Relationship Type="http://schemas.openxmlformats.org/officeDocument/2006/relationships/notesMaster" Target="/ppt/notesMasters/notesMaster1.xml" Id="Rccaffb3eb87442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dfba1ad0954ac0" /><Relationship Type="http://schemas.openxmlformats.org/officeDocument/2006/relationships/notesMaster" Target="/ppt/notesMasters/notesMaster1.xml" Id="Rdc1118268e31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83537cbb54453b" /><Relationship Type="http://schemas.openxmlformats.org/officeDocument/2006/relationships/notesMaster" Target="/ppt/notesMasters/notesMaster1.xml" Id="Rb33ca3453a244d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64cbf288db4bb1" /><Relationship Type="http://schemas.openxmlformats.org/officeDocument/2006/relationships/notesMaster" Target="/ppt/notesMasters/notesMaster1.xml" Id="Rd6aa9f830f974f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f6964f5e4947c6" /><Relationship Type="http://schemas.openxmlformats.org/officeDocument/2006/relationships/notesMaster" Target="/ppt/notesMasters/notesMaster1.xml" Id="R806801f0e4b74d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5d9337d41e4666" /><Relationship Type="http://schemas.openxmlformats.org/officeDocument/2006/relationships/notesMaster" Target="/ppt/notesMasters/notesMaster1.xml" Id="R656aad713b474e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3f413b7d2446df" /><Relationship Type="http://schemas.openxmlformats.org/officeDocument/2006/relationships/notesMaster" Target="/ppt/notesMasters/notesMaster1.xml" Id="R65b63eb7d10648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e5e163e58341b2" /><Relationship Type="http://schemas.openxmlformats.org/officeDocument/2006/relationships/notesMaster" Target="/ppt/notesMasters/notesMaster1.xml" Id="Rc45a78d5b79943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0702bdaba74a6f" /><Relationship Type="http://schemas.openxmlformats.org/officeDocument/2006/relationships/notesMaster" Target="/ppt/notesMasters/notesMaster1.xml" Id="R4bba5abb15ed44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fea637d8914165" /><Relationship Type="http://schemas.openxmlformats.org/officeDocument/2006/relationships/notesMaster" Target="/ppt/notesMasters/notesMaster1.xml" Id="Rd37b925c0fc946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e1d6ddee964f2d" /><Relationship Type="http://schemas.openxmlformats.org/officeDocument/2006/relationships/notesMaster" Target="/ppt/notesMasters/notesMaster1.xml" Id="R717455c5f2b34b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eca53db79b47d7" /><Relationship Type="http://schemas.openxmlformats.org/officeDocument/2006/relationships/notesMaster" Target="/ppt/notesMasters/notesMaster1.xml" Id="R08c555ed938b4c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41082ba4944e8c" /><Relationship Type="http://schemas.openxmlformats.org/officeDocument/2006/relationships/notesMaster" Target="/ppt/notesMasters/notesMaster1.xml" Id="R357ac7cd4f4b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NOSTOS 개발완료보고서 표지.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docs/media/nostos-essence/README.md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배경: 주행 중 거리·소음·시선 분산·긴급 전달 문제.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docs/study/NOSTOS_QA.md</a:t>
            </a:r>
          </a:p>
          <a:p xmlns:a="http://schemas.openxmlformats.org/drawingml/2006/main">
            <a:r>
              <a:t>- docs/media/nostos-essence/README.md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동기와 개념: 장치 연결보다 그룹 상태 공유를 중심으로 설명.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docs/study/NOSTOS_QA.md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목표·필요성과 제출 요구 링크.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code: https://github.com/snowflake-rider/nostos</a:t>
            </a:r>
          </a:p>
          <a:p xmlns:a="http://schemas.openxmlformats.org/drawingml/2006/main">
            <a:r>
              <a:t>- Demo video: https://github.com/snowflake-rider/nostos/blob/main/docs/media/nostos-essence/public/video/nostos-ride-signals.mp4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firmware/protocol/README.md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환경과 전체 기능 설계도.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PINS.md</a:t>
            </a:r>
          </a:p>
          <a:p xmlns:a="http://schemas.openxmlformats.org/drawingml/2006/main">
            <a:r>
              <a:t>- firmware/protocol/README.md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노드 profile과 공통 장치.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PINS.md</a:t>
            </a:r>
          </a:p>
          <a:p xmlns:a="http://schemas.openxmlformats.org/drawingml/2006/main">
            <a:r>
              <a:t>- docs/adr/0006-rider-node-id-separates-identity-from-capabilities.md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검사 결과와 실물 검증 경계를 분리한다.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firmware/stm32/host-tests/</a:t>
            </a:r>
          </a:p>
          <a:p xmlns:a="http://schemas.openxmlformats.org/drawingml/2006/main">
            <a:r>
              <a:t>- firmware/esp32/host-tests/</a:t>
            </a:r>
          </a:p>
          <a:p xmlns:a="http://schemas.openxmlformats.org/drawingml/2006/main">
            <a:r>
              <a:t>- firmware/protocol/tests/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파일 구조와 호출 흐름.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STRUCTURE.md</a:t>
            </a:r>
          </a:p>
          <a:p xmlns:a="http://schemas.openxmlformats.org/drawingml/2006/main">
            <a:r>
              <a:t>- firmware/stm32/MyApp/</a:t>
            </a:r>
          </a:p>
          <a:p xmlns:a="http://schemas.openxmlformats.org/drawingml/2006/main">
            <a:r>
              <a:t>- firmware/protocol/</a:t>
            </a:r>
          </a:p>
          <a:p xmlns:a="http://schemas.openxmlformats.org/drawingml/2006/main">
            <a:r>
              <a:t>- firmware/esp32/main/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버튼·RGB·부저 구현. 출력 모듈 구현과 전체 실물 연동 완료는 구분한다.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firmware/stm32/MyApp/hw/button.c</a:t>
            </a:r>
          </a:p>
          <a:p xmlns:a="http://schemas.openxmlformats.org/drawingml/2006/main">
            <a:r>
              <a:t>- firmware/stm32/MyApp/service/alert.c</a:t>
            </a:r>
          </a:p>
          <a:p xmlns:a="http://schemas.openxmlformats.org/drawingml/2006/main">
            <a:r>
              <a:t>- firmware/stm32/MyApp/hw/buzzer.c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OLED의 발신자 표기는 FRONT/REAR/CENTER가 아니라 N{sender_id}. 32 B 처리는 협력적 증분 처리.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firmware/stm32/MyApp/service/display_service.c</a:t>
            </a:r>
          </a:p>
          <a:p xmlns:a="http://schemas.openxmlformats.org/drawingml/2006/main">
            <a:r>
              <a:t>- firmware/stm32/MyApp/hw/vs1003b.c</a:t>
            </a:r>
          </a:p>
          <a:p xmlns:a="http://schemas.openxmlformats.org/drawingml/2006/main">
            <a:r>
              <a:t>- firmware/stm32/MyApp/service/audio_service.c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낙상 판단 임계값은 코드 상수와 host test 근거.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firmware/stm32/MyApp/service/safety_detector.c</a:t>
            </a:r>
          </a:p>
          <a:p xmlns:a="http://schemas.openxmlformats.org/drawingml/2006/main">
            <a:r>
              <a:t>- firmware/stm32/MyApp/service/safety_service.c</a:t>
            </a:r>
          </a:p>
          <a:p xmlns:a="http://schemas.openxmlformats.org/drawingml/2006/main">
            <a:r>
              <a:t>- firmware/stm32/host-tests/test_safety_calibration.c</a:t>
            </a:r>
          </a:p>
          <a:p xmlns:a="http://schemas.openxmlformats.org/drawingml/2006/main">
            <a:r>
              <a:t>- PINS.md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STOP_ACK는 상대 STM32 application 수락이며 물리 출력 완료를 의미하지 않는다.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firmware/esp32/main/application_runtime.c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Pico 검토·긴급 조달·2~3일은 팀 회고. Provisioning 키/모델 설정은 외부 Provisioner가 수행.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firmware/esp32/main/mesh_node.c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docs/study/NOSTOS_QA.md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전원·장소·USB 허브 이슈는 팀 회고. 전압 강하와 장치 충돌은 추정 원인으로만 표기.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firmware/README.md</a:t>
            </a:r>
          </a:p>
          <a:p xmlns:a="http://schemas.openxmlformats.org/drawingml/2006/main">
            <a:r>
              <a:t>- firmware/stm32/MyApp/hw/button.c</a:t>
            </a:r>
          </a:p>
          <a:p xmlns:a="http://schemas.openxmlformats.org/drawingml/2006/main">
            <a:r>
              <a:t>- firmware/stm32/MyApp/hw/vs1003b.c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멀티모달 인터페이스의 차별성. 실물 통합 완료 주장 없이 구현 구조 중심으로 설명.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firmware/stm32/MyApp/service/display_service.c</a:t>
            </a:r>
          </a:p>
          <a:p xmlns:a="http://schemas.openxmlformats.org/drawingml/2006/main">
            <a:r>
              <a:t>- firmware/stm32/MyApp/service/audio_service.c</a:t>
            </a:r>
          </a:p>
          <a:p xmlns:a="http://schemas.openxmlformats.org/drawingml/2006/main">
            <a:r>
              <a:t>- firmware/stm32/MyApp/service/alert.c</a:t>
            </a:r>
          </a:p>
          <a:p xmlns:a="http://schemas.openxmlformats.org/drawingml/2006/main">
            <a:r>
              <a:t>- DEVICES.md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Calibration과 복합 조건 기반 낙상 감지 차별성.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firmware/stm32/MyApp/service/safety_detector.c</a:t>
            </a:r>
          </a:p>
          <a:p xmlns:a="http://schemas.openxmlformats.org/drawingml/2006/main">
            <a:r>
              <a:t>- firmware/stm32/host-tests/test_safety_calibration.c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프로토콜·신뢰성 설계의 차별성.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firmware/esp32/main/bridge_runtime.c</a:t>
            </a:r>
          </a:p>
          <a:p xmlns:a="http://schemas.openxmlformats.org/drawingml/2006/main">
            <a:r>
              <a:t>- firmware/esp32/main/application_runtime.c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파급력과 발전 가능성을 한 장에 통합한다. 판매·효과 수치는 만들지 않고 검증 가능한 활용 경로만 제시한다.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docs/study/NOSTOS_QA.md</a:t>
            </a:r>
          </a:p>
          <a:p xmlns:a="http://schemas.openxmlformats.org/drawingml/2006/main">
            <a:r>
              <a:t>- firmware/protocol/README.md</a:t>
            </a:r>
          </a:p>
          <a:p xmlns:a="http://schemas.openxmlformats.org/drawingml/2006/main">
            <a:r>
              <a:t>- docs/media/nostos-essence/README.md</a:t>
            </a:r>
          </a:p>
          <a:p xmlns:a="http://schemas.openxmlformats.org/drawingml/2006/main">
            <a:r>
              <a:t>- Team retrospective: goal-objective.md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날짜 근거가 없어 작업 단계 중심 일정으로 작성. 2~3일은 팀 회고 출처.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STRUCTURE.md</a:t>
            </a:r>
          </a:p>
          <a:p xmlns:a="http://schemas.openxmlformats.org/drawingml/2006/main">
            <a:r>
              <a:t>- firmware/README.md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실명 정보가 제공되지 않아 역할 기준으로 업무 분장을 정리.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retrospective: goal-objective.md</a:t>
            </a:r>
          </a:p>
          <a:p xmlns:a="http://schemas.openxmlformats.org/drawingml/2006/main">
            <a:r>
              <a:t>- Team contribution text: pasted-text-1.txt</a:t>
            </a:r>
          </a:p>
          <a:p xmlns:a="http://schemas.openxmlformats.org/drawingml/2006/main">
            <a:r>
              <a:t>- DEVICES.md</a:t>
            </a:r>
          </a:p>
          <a:p xmlns:a="http://schemas.openxmlformats.org/drawingml/2006/main">
            <a:r>
              <a:t>- STRUCTURE.md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ecdbc6912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8a10fccd04ef7" /><Relationship Type="http://schemas.openxmlformats.org/officeDocument/2006/relationships/slideLayout" Target="/ppt/slideLayouts/slideLayout1.xml" Id="R37dc9ad4a669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c9ad4a669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c0b8ad931440e" /><Relationship Type="http://schemas.openxmlformats.org/officeDocument/2006/relationships/image" Target="/ppt/media/image.png" Id="R65c746e61e134e3a" /><Relationship Type="http://schemas.openxmlformats.org/officeDocument/2006/relationships/notesSlide" Target="/ppt/notesSlides/notesSlide1.xml" Id="R60672bdf5e75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a4f64fef44e25" /><Relationship Type="http://schemas.openxmlformats.org/officeDocument/2006/relationships/image" Target="/ppt/media/image.png" Id="R86b93e51327642ba" /><Relationship Type="http://schemas.openxmlformats.org/officeDocument/2006/relationships/notesSlide" Target="/ppt/notesSlides/notesSlide2.xml" Id="R6a4d85c7e38b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6d741800f419c" /><Relationship Type="http://schemas.openxmlformats.org/officeDocument/2006/relationships/notesSlide" Target="/ppt/notesSlides/notesSlide3.xml" Id="R77fcf4dc5d8f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78e3d8b7d46fe" /><Relationship Type="http://schemas.openxmlformats.org/officeDocument/2006/relationships/hyperlink" Target="https://github.com/snowflake-rider/nostos" TargetMode="External" Id="R4e94f304393f4ada" /><Relationship Type="http://schemas.openxmlformats.org/officeDocument/2006/relationships/hyperlink" Target="https://github.com/snowflake-rider/nostos/blob/main/docs/media/nostos-essence/public/video/nostos-ride-signals.mp4" TargetMode="External" Id="R5c74347dd2cf4d10" /><Relationship Type="http://schemas.openxmlformats.org/officeDocument/2006/relationships/notesSlide" Target="/ppt/notesSlides/notesSlide4.xml" Id="Rf0b35478a6a849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b8f57a7b84dae" /><Relationship Type="http://schemas.openxmlformats.org/officeDocument/2006/relationships/notesSlide" Target="/ppt/notesSlides/notesSlide5.xml" Id="R54304d70b05547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068ddae76438f" /><Relationship Type="http://schemas.openxmlformats.org/officeDocument/2006/relationships/notesSlide" Target="/ppt/notesSlides/notesSlide6.xml" Id="Rb6dd6f2b4122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02a4c77c48c1" /><Relationship Type="http://schemas.openxmlformats.org/officeDocument/2006/relationships/notesSlide" Target="/ppt/notesSlides/notesSlide7.xml" Id="R2fde8edc4a5e49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73b05f16349e8" /><Relationship Type="http://schemas.openxmlformats.org/officeDocument/2006/relationships/notesSlide" Target="/ppt/notesSlides/notesSlide8.xml" Id="Recc0c947248c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2801e6084d2a" /><Relationship Type="http://schemas.openxmlformats.org/officeDocument/2006/relationships/notesSlide" Target="/ppt/notesSlides/notesSlide9.xml" Id="R13441096996943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ad7dd05e4272" /><Relationship Type="http://schemas.openxmlformats.org/officeDocument/2006/relationships/notesSlide" Target="/ppt/notesSlides/notesSlide10.xml" Id="Re49f24a59eeb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ab314931740ad" /><Relationship Type="http://schemas.openxmlformats.org/officeDocument/2006/relationships/notesSlide" Target="/ppt/notesSlides/notesSlide11.xml" Id="Re8dd98b5a98f43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c57bff6864da2" /><Relationship Type="http://schemas.openxmlformats.org/officeDocument/2006/relationships/notesSlide" Target="/ppt/notesSlides/notesSlide12.xml" Id="R7c0296455f24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dfd8bbe754e6a" /><Relationship Type="http://schemas.openxmlformats.org/officeDocument/2006/relationships/notesSlide" Target="/ppt/notesSlides/notesSlide13.xml" Id="R8c9b697614d448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1be2ebead47bb" /><Relationship Type="http://schemas.openxmlformats.org/officeDocument/2006/relationships/notesSlide" Target="/ppt/notesSlides/notesSlide14.xml" Id="R14a38d2bdf354e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ea89150147e2" /><Relationship Type="http://schemas.openxmlformats.org/officeDocument/2006/relationships/notesSlide" Target="/ppt/notesSlides/notesSlide15.xml" Id="R426722f8c6824d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6e9e51e11446b" /><Relationship Type="http://schemas.openxmlformats.org/officeDocument/2006/relationships/notesSlide" Target="/ppt/notesSlides/notesSlide16.xml" Id="R3a66948cab954b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c2ac4bb2246d4" /><Relationship Type="http://schemas.openxmlformats.org/officeDocument/2006/relationships/notesSlide" Target="/ppt/notesSlides/notesSlide17.xml" Id="Rb51d62bf8f9c4e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2b4d08eba42c2" /><Relationship Type="http://schemas.openxmlformats.org/officeDocument/2006/relationships/notesSlide" Target="/ppt/notesSlides/notesSlide18.xml" Id="R04efe1de1a2645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572dd69d44282" /><Relationship Type="http://schemas.openxmlformats.org/officeDocument/2006/relationships/notesSlide" Target="/ppt/notesSlides/notesSlide19.xml" Id="Rd3c94c2b15414b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e08772a354a8b" /><Relationship Type="http://schemas.openxmlformats.org/officeDocument/2006/relationships/notesSlide" Target="/ppt/notesSlides/notesSlide20.xml" Id="R2b8c40db491544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A9AD0C96-75C4-40C2-A15C-EF2CE7C2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2AE629DF-C4CD-4911-A123-74A33F5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NOSTOS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개발완료보고서</a:t>
            </a:r>
          </a:p>
        </p:txBody>
      </p:sp>
      <p:sp>
        <p:nvSpPr>
          <p:cNvPr id="3" name="slide1-lead">
            <a:extLst xmlns:a="http://schemas.openxmlformats.org/drawingml/2006/main">
              <a:ext uri="{FF2B5EF4-FFF2-40B4-BE49-F238E27FC236}">
                <a16:creationId xmlns:a16="http://schemas.microsoft.com/office/drawing/2014/main" id="{D78BFA31-828D-404A-AE78-AC92C87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STM32F411RE·ESP32-S3 Bluetooth Mesh 기반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그룹 라이딩 안전·상태 공유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17FB-E95B-47E1-940F-2CDBE04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1-point-1-title">
            <a:extLst xmlns:a="http://schemas.openxmlformats.org/drawingml/2006/main">
              <a:ext uri="{FF2B5EF4-FFF2-40B4-BE49-F238E27FC236}">
                <a16:creationId xmlns:a16="http://schemas.microsoft.com/office/drawing/2014/main" id="{1E3AE102-34FD-4E32-9FC0-5D4C630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6" name="slide1-point-1-body">
            <a:extLst xmlns:a="http://schemas.openxmlformats.org/drawingml/2006/main">
              <a:ext uri="{FF2B5EF4-FFF2-40B4-BE49-F238E27FC236}">
                <a16:creationId xmlns:a16="http://schemas.microsoft.com/office/drawing/2014/main" id="{E178D0DF-4ED1-445B-BF59-0F65834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센서·버튼·OLED·RGB·오디오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7621-2DBF-4AF8-A888-2A09943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8" name="slide1-point-2-title">
            <a:extLst xmlns:a="http://schemas.openxmlformats.org/drawingml/2006/main">
              <a:ext uri="{FF2B5EF4-FFF2-40B4-BE49-F238E27FC236}">
                <a16:creationId xmlns:a16="http://schemas.microsoft.com/office/drawing/2014/main" id="{ABF9F5FA-9150-4E22-B8CA-08E31E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통신</a:t>
            </a:r>
          </a:p>
        </p:txBody>
      </p:sp>
      <p:sp>
        <p:nvSpPr>
          <p:cNvPr id="9" name="slide1-point-2-body">
            <a:extLst xmlns:a="http://schemas.openxmlformats.org/drawingml/2006/main">
              <a:ext uri="{FF2B5EF4-FFF2-40B4-BE49-F238E27FC236}">
                <a16:creationId xmlns:a16="http://schemas.microsoft.com/office/drawing/2014/main" id="{BDF51A71-2A91-457B-A20D-2A41F5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↔ ESP32-S3 ↔ Bluetooth Mesh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D5A7-6757-4B4A-8879-99103A2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slide1-point-3-title">
            <a:extLst xmlns:a="http://schemas.openxmlformats.org/drawingml/2006/main">
              <a:ext uri="{FF2B5EF4-FFF2-40B4-BE49-F238E27FC236}">
                <a16:creationId xmlns:a16="http://schemas.microsoft.com/office/drawing/2014/main" id="{08C98DAD-B2D2-4728-A90A-EC3341A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기능</a:t>
            </a:r>
          </a:p>
        </p:txBody>
      </p:sp>
      <p:sp>
        <p:nvSpPr>
          <p:cNvPr id="12" name="slide1-point-3-body">
            <a:extLst xmlns:a="http://schemas.openxmlformats.org/drawingml/2006/main">
              <a:ext uri="{FF2B5EF4-FFF2-40B4-BE49-F238E27FC236}">
                <a16:creationId xmlns:a16="http://schemas.microsoft.com/office/drawing/2014/main" id="{7E60AA99-F64A-477C-964B-56CF581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후보 감지와 STOP 공유</a:t>
            </a:r>
          </a:p>
        </p:txBody>
      </p:sp>
      <p:sp>
        <p:nvSpPr>
          <p:cNvPr id="13" name="slide1-image-backing">
            <a:extLst xmlns:a="http://schemas.openxmlformats.org/drawingml/2006/main">
              <a:ext uri="{FF2B5EF4-FFF2-40B4-BE49-F238E27FC236}">
                <a16:creationId xmlns:a16="http://schemas.microsoft.com/office/drawing/2014/main" id="{FADF9C22-8E30-4EFD-BD62-667F34E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746e61e134e3a"/>
          <a:stretch xmlns:a="http://schemas.openxmlformats.org/drawingml/2006/main"/>
        </p:blipFill>
        <p:spPr>
          <a:xfrm xmlns:a="http://schemas.openxmlformats.org/drawingml/2006/main">
            <a:off x="6267450" y="1641277"/>
            <a:ext cx="5543550" cy="3118247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5" name="slide1-caption-backing">
            <a:extLst xmlns:a="http://schemas.openxmlformats.org/drawingml/2006/main">
              <a:ext uri="{FF2B5EF4-FFF2-40B4-BE49-F238E27FC236}">
                <a16:creationId xmlns:a16="http://schemas.microsoft.com/office/drawing/2014/main" id="{85485054-A65B-4976-95B4-FB3260E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124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71421">
                <a:alpha val="80000"/>
              </a:srgbClr>
            </a:solidFill>
            <a:prstDash val="solid"/>
          </a:ln>
        </p:spPr>
      </p:sp>
      <p:sp>
        <p:nvSpPr>
          <p:cNvPr id="16" name="slide1-image-caption">
            <a:extLst xmlns:a="http://schemas.openxmlformats.org/drawingml/2006/main">
              <a:ext uri="{FF2B5EF4-FFF2-40B4-BE49-F238E27FC236}">
                <a16:creationId xmlns:a16="http://schemas.microsoft.com/office/drawing/2014/main" id="{3235A5E0-018A-423C-BCD0-7237FD8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표지 포함 총 20페이지 · NOSTOS Team</a:t>
            </a:r>
          </a:p>
        </p:txBody>
      </p:sp>
    </p:spTree>
    <p:extLst>
      <p:ext uri="{BB962C8B-B14F-4D97-AF65-F5344CB8AC3E}">
        <p14:creationId xmlns:p14="http://schemas.microsoft.com/office/powerpoint/2010/main" val="1134346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">
            <a:extLst xmlns:a="http://schemas.openxmlformats.org/drawingml/2006/main">
              <a:ext uri="{FF2B5EF4-FFF2-40B4-BE49-F238E27FC236}">
                <a16:creationId xmlns:a16="http://schemas.microsoft.com/office/drawing/2014/main" id="{A9AD0C96-75C4-40C2-A15C-EF2CE7C2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2AE629DF-C4CD-4911-A123-74A33F5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그룹 라이딩의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사각지대를 줄이다</a:t>
            </a:r>
          </a:p>
        </p:txBody>
      </p:sp>
      <p:sp>
        <p:nvSpPr>
          <p:cNvPr id="3" name="slide1-lead">
            <a:extLst xmlns:a="http://schemas.openxmlformats.org/drawingml/2006/main">
              <a:ext uri="{FF2B5EF4-FFF2-40B4-BE49-F238E27FC236}">
                <a16:creationId xmlns:a16="http://schemas.microsoft.com/office/drawing/2014/main" id="{D78BFA31-828D-404A-AE78-AC92C87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중 뒤를 돌아보거나 스마트폰을 조작하지 않고도,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세 라이더가 같은 팀 상태를 알아야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17FB-E95B-47E1-940F-2CDBE04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lide1-point-1-title">
            <a:extLst xmlns:a="http://schemas.openxmlformats.org/drawingml/2006/main">
              <a:ext uri="{FF2B5EF4-FFF2-40B4-BE49-F238E27FC236}">
                <a16:creationId xmlns:a16="http://schemas.microsoft.com/office/drawing/2014/main" id="{1E3AE102-34FD-4E32-9FC0-5D4C630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거리·소음</a:t>
            </a:r>
          </a:p>
        </p:txBody>
      </p:sp>
      <p:sp>
        <p:nvSpPr>
          <p:cNvPr id="6" name="slide1-point-1-body">
            <a:extLst xmlns:a="http://schemas.openxmlformats.org/drawingml/2006/main">
              <a:ext uri="{FF2B5EF4-FFF2-40B4-BE49-F238E27FC236}">
                <a16:creationId xmlns:a16="http://schemas.microsoft.com/office/drawing/2014/main" id="{E178D0DF-4ED1-445B-BF59-0F65834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음성과 손짓만으로는 앞·뒤 상황을 즉시 공유하기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7621-2DBF-4AF8-A888-2A09943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8" name="slide1-point-2-title">
            <a:extLst xmlns:a="http://schemas.openxmlformats.org/drawingml/2006/main">
              <a:ext uri="{FF2B5EF4-FFF2-40B4-BE49-F238E27FC236}">
                <a16:creationId xmlns:a16="http://schemas.microsoft.com/office/drawing/2014/main" id="{ABF9F5FA-9150-4E22-B8CA-08E31EB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시선 분산</a:t>
            </a:r>
          </a:p>
        </p:txBody>
      </p:sp>
      <p:sp>
        <p:nvSpPr>
          <p:cNvPr id="9" name="slide1-point-2-body">
            <a:extLst xmlns:a="http://schemas.openxmlformats.org/drawingml/2006/main">
              <a:ext uri="{FF2B5EF4-FFF2-40B4-BE49-F238E27FC236}">
                <a16:creationId xmlns:a16="http://schemas.microsoft.com/office/drawing/2014/main" id="{BDF51A71-2A91-457B-A20D-2A41F52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동료 확인과 휴대전화 조작은 도로 주의를 끊고 새로운 위험을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D5A7-6757-4B4A-8879-99103A2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slide1-point-3-title">
            <a:extLst xmlns:a="http://schemas.openxmlformats.org/drawingml/2006/main">
              <a:ext uri="{FF2B5EF4-FFF2-40B4-BE49-F238E27FC236}">
                <a16:creationId xmlns:a16="http://schemas.microsoft.com/office/drawing/2014/main" id="{08C98DAD-B2D2-4728-A90A-EC3341A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긴급 전달</a:t>
            </a:r>
          </a:p>
        </p:txBody>
      </p:sp>
      <p:sp>
        <p:nvSpPr>
          <p:cNvPr id="12" name="slide1-point-3-body">
            <a:extLst xmlns:a="http://schemas.openxmlformats.org/drawingml/2006/main">
              <a:ext uri="{FF2B5EF4-FFF2-40B4-BE49-F238E27FC236}">
                <a16:creationId xmlns:a16="http://schemas.microsoft.com/office/drawing/2014/main" id="{7E60AA99-F64A-477C-964B-56CF581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정차·낙상·SOS와 같은 신호는 팀 전체에 빠르고 명확하게 전달되어야 합니다.</a:t>
            </a:r>
          </a:p>
        </p:txBody>
      </p:sp>
      <p:sp>
        <p:nvSpPr>
          <p:cNvPr id="13" name="slide1-image-backing">
            <a:extLst xmlns:a="http://schemas.openxmlformats.org/drawingml/2006/main">
              <a:ext uri="{FF2B5EF4-FFF2-40B4-BE49-F238E27FC236}">
                <a16:creationId xmlns:a16="http://schemas.microsoft.com/office/drawing/2014/main" id="{FADF9C22-8E30-4EFD-BD62-667F34E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93e51327642ba"/>
          <a:stretch xmlns:a="http://schemas.openxmlformats.org/drawingml/2006/main"/>
        </p:blipFill>
        <p:spPr>
          <a:xfrm xmlns:a="http://schemas.openxmlformats.org/drawingml/2006/main">
            <a:off x="6267450" y="1641277"/>
            <a:ext cx="5543550" cy="3118247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5" name="slide1-caption-backing">
            <a:extLst xmlns:a="http://schemas.openxmlformats.org/drawingml/2006/main">
              <a:ext uri="{FF2B5EF4-FFF2-40B4-BE49-F238E27FC236}">
                <a16:creationId xmlns:a16="http://schemas.microsoft.com/office/drawing/2014/main" id="{85485054-A65B-4976-95B4-FB3260E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124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71421">
                <a:alpha val="80000"/>
              </a:srgbClr>
            </a:solidFill>
            <a:prstDash val="solid"/>
          </a:ln>
        </p:spPr>
      </p:sp>
      <p:sp>
        <p:nvSpPr>
          <p:cNvPr id="16" name="slide1-image-caption">
            <a:extLst xmlns:a="http://schemas.openxmlformats.org/drawingml/2006/main">
              <a:ext uri="{FF2B5EF4-FFF2-40B4-BE49-F238E27FC236}">
                <a16:creationId xmlns:a16="http://schemas.microsoft.com/office/drawing/2014/main" id="{3235A5E0-018A-423C-BCD0-7237FD8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명의 라이더가 하나의 그룹 상태를 공유</a:t>
            </a:r>
          </a:p>
        </p:txBody>
      </p:sp>
    </p:spTree>
    <p:extLst>
      <p:ext uri="{BB962C8B-B14F-4D97-AF65-F5344CB8AC3E}">
        <p14:creationId xmlns:p14="http://schemas.microsoft.com/office/powerpoint/2010/main" val="1134346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핵심 동기는 '장치 연결'이 아니라 '상태 공유'입니다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각 라이더의 센서·버튼 정보를 필요한 순간에 그룹 전체의 시각·음성 알림으로 바꾸는 것이 개발의 출발점입니다.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개발 동기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각자의 장치가 보는 정보를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팀 전체의 판단 근거로 전환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일대일 통신의 거리 한계보다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다수 노드 확장성을 우선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무선 장애에도 로컬 센서·알림은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  독립적으로 유지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개발 개념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제어와 무선 전송을 분리하고, 표준화된 메시지 흐름으로 연결합니다.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베어러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그룹 공유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ESP32-S3 /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로컬 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OLED·LED·음성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설계 원칙  |  STM32: 센서·출력  ·  ESP32-S3: UART↔Bluetooth Mesh 브릿지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목표는 세 노드를 하나의 안전한 주행 그룹으로 묶는 것입니다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운전자의 시선은 도로에, 팀 정보는 모든 노드에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인지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상태를 놓치지 않는다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속도·온습도·움직임과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Pace Up·Pace Down·STOP 입력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공유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상태를 그룹의 정보로 바꾸다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 ↔ UART ↔ ESP32-S3 ↔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Bluetooth Mesh 공통 메시지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정보를 즉시 반응으로 연결한다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OLED·RGB LED·오디오·부저로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신호와 긴급 상태 알림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자료 링크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소스코드  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4e94f304393f4ada"/>
              </a:rPr>
              <a:t>GitHub Repository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·   시연 영상  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5c74347dd2cf4d10"/>
              </a:rPr>
              <a:t>NOSTOS Ride Signals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로컬 제어와 무선 통신을 분리한 이중 MCU 구조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STM32는 장치 상태를, ESP32-S3는 메시지·Mesh를 담당해 변경 책임을 분리했습니다.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핵심 개발 환경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MCU  STM32F411RE + ESP32-S3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Language  Embedded 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Framework  STM32 HAL / ESP-IDF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Build  CMake + fw wrapper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HW·SW 데이터 경로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입력에서 상대 노드 출력까지 동일한 application 의미를 유지합니다.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센서·버튼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로컬 제어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 HAL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프레이밍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+ CRC16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무선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ESP32-S3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출력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OLED·LED·Audio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책임 분리  |  STM32: 센서·출력  ·  ESP32-S3: protocol·queue·Bluetooth Mesh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노드는 공통 출력과 서로 다른 센서 역할을 공유합니다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현재 배치 profile이며 Rider Node ID는 위치나 센서 종류와 독립적입니다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Rider Node 1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속도 상태 제공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XOSS 속도 센서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로컬 MPU·DHT 없음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Rider Node 2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환경 상태 제공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DHT11 온도·습도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그룹 상태 publish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Rider Node 3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상태 제공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4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MPU6050 움직임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후보 로컬 판정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공통 장치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SSD1306  ·  VS1003B  ·  Button ×4  ·  RGB LED  ·  Buzzer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 도구와 검증 단계는 결과의 의미를 분리합니다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코드·빌드·실물 동작은 서로 다른 증거입니다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HAL 기반 애플리케이션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CMake + host tests 12종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센서·출력 서비스 검사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ESP32-S3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ESP-IDF Mesh runtime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ESP-IDF 5.5.5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Mesh policy + host tests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Protocol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공통 codec·UART framing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CRC16·golden bytes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경계·재동기화 검사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검증 경계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Host check PASS  ·  센서·RF·출력의 3노드 실물 E2E는 후속 검증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입력부터 Mesh까지 계층별 책임을 한 방향으로 연결했습니다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하드웨어 드라이버, 서비스, 공통 프로토콜, UART bridge, Mesh runtime을 분리했습니다.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주요 파일 구성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stm32/MyApp/hw/  장치 driver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stm32/MyApp/service/  상태·정책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protocol/  codec·UART framing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esp32/main/  bridge·Mesh runtime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프로그램 처리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각 계층은 자신의 책임만 처리하고 다음 계층에 명시적으로 전달합니다.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드라이버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hw/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서비스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service/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protocol/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브리지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 ↔ Mesh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상태·출력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구조 원칙  |  단일 protocol contract를 STM32와 ESP32가 함께 사용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물리 입력은 한 번의 의도를 안정된 이벤트로 바꿉니다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내부 Pull-up·30 ms debounce·1회 press event로 중복 입력을 줄였습니다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버튼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주행 요청과 로컬 초기화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B1 Speed Up · B2 Speed Down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B3 STOP · B4 Local Reset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RGB LED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요청 종류를 색으로 구분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Green · Yellow · Red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일반 입력은 2초간 표시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긴급 출력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낙상을 우선 상태로 표시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Red 200 ms Blink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Buzzer 300/150 ms ×3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추가 입력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Calibration 필요 상태에서 Button 1을 3초 Hold하면 재시도 세션 시작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화면과 음성을 결합하되 처리 경로는 협력적으로 유지합니다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OLED는 상태를 구조화해 보여 주고, VS1003B는 최대 32 B 단위로 음원을 전송합니다.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SSD1306 Dashboard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128×64 · I²C1 · 0x3C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Speed · Distance · Temp · Humidity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N{ID}: ACCELERATE / DECEL / 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Calibration · FALL 화면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Audio 처리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DREQ와 SCI read-back을 확인하며 장시간 일괄 전송을 피합니다.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이벤트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Audio Asset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DREQ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전송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SPI2 · 32 B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계속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Next Cycle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구현 경계  |  재생 API·driver 구현 · 앱 루프 통합·실물 재생은 추가 확인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낙상은 단일 기울기가 아니라 시간 순서를 가진 복합 조건입니다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충격 후보를 먼저 잡고, 자세 변화와 보정 각속도를 관찰한 뒤 카운트다운을 시작합니다.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Calibration 기준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안정 샘플 40개 평균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합성 가속도 0.85~1.15 g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합성 각속도 ≤ 5°/s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기준 중력 방향 + Gyro Offset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낙상 판정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Raw 값을 실제 장착 기준의 상대 변화로 해석합니다.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충격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≥ 1.5 g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1~3 s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자세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&gt; 45°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회전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&lt; 100°/s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10 s → FALL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검증  |  Host logic PASS · 실제 자전거 장착·주행 임계값 검증은 후속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안전 메시지는 수신 확인과 우선 처리까지 설계했습니다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네 메시지와 단일 wire contract로 상태·요청·확인을 구분합니다.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공통 메시지 4종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STATE_UPDATE  주행·환경 상태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PACE_REQUEST  증속·감속 요청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STOP_REQUEST  버튼·낙상 정지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STOP_ACK  상대 application 수락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STOP 전달·확인 흐름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미응답 peer만 재시도하고, 상대 STM32 수락을 ACK로 확인합니다.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발생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프레임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Local UART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전파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 Mesh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Peer ESP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수락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Peer STM32·ACK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처리 순서  |  STOP_REQUEST &gt; STOP_ACK &gt; Latest Sensor State &gt; Normal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플랫폼 전환 후에는 연결보다 운영 안정성을 먼저 설계했습니다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팀 회고의 일정 판단과 현재 코드 근거를 분리해 정리했습니다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플랫폼 결정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Pico 검토 후 ESP32-S3 확정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긴급 조달·약 2~3일 기반 구성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(팀 회고 기준)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Mesh 구현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33700"/>
            <a:ext cx="70580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62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ESP-IDF Node + Vendor Model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PB-ADV·PB-GATT 등록 지원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0xC001 Group Address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576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메시지 안정성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38650"/>
            <a:ext cx="7058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고정 큐와 최신값 분리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STOP·ACK·Normal Queue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Sensor는 Topic별 Latest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운영 기준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Provisioning 지원  ·  0xC001 그룹 메시지  ·  STOP·ACK 우선순위 Queue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현장 통합 문제는 원인과 회피책을 구분해 기록했습니다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측정으로 확정하지 않은 원인은 가능 요인으로만 남겼습니다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입력·오디오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접점 튐과 DREQ Timing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30 ms Debounce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Timeout·SCI Read-back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전원·배선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이동 중 재배선과 공급 편차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전원 분리·케이블 고정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원인은 측정 전 가설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현장·Flash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허브 동시 Flash 오류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부품 접근성 고려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한 대씩 순차 Flash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핀맵 조기 동결 · Connector 모듈화 · 장시간 전원 시험 · 장치별 Port/Serial 지정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시각·청각 피드백으로 주행 중 화면 의존도를 낮춥니다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한 메시지를 상황에 맞는 출력으로 분해하는 멀티모달 인터페이스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즉시 입력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물리 버튼 중심 조작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복잡한 화면 조작 없이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Pace·STOP 요청 생성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시각 정보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OLED + RGB 상태 표현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수치·발신 Node·요청을 표시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색상으로 즉시 구분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청각 경고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VS1003B + Buzzer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음성 Asset과 긴급 Pattern으로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시선 분산을 보완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Raw Sensor Data가 아니라 라이더가 바로 행동할 수 있는 신호로 변환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장착 자세 Calibration이 고정 축 임계값을 대체합니다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실제 자전거 장착 상태를 정상 기준으로 저장합니다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기준 설정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40개 안정 샘플을 평균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중력 방향을 정규화하고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축별 Gyro Offset 저장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복합 판정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33700"/>
            <a:ext cx="70580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62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충격 → 자세 → 회전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하나의 축이 아니라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벡터 크기와 상대 각도 사용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576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상태 전환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38650"/>
            <a:ext cx="7058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후보 → Countdown → FALL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관찰 시간과 취소 조건으로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순간 오판을 줄이는 구조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Host Test로 알고리즘·Service 확인  ·  실제 주행 데이터 기반 Tuning 필요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단일 프로토콜과 ACK 경계가 무선 성공의 의미를 명확히 합니다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전송 API 성공과 상대 application 수락을 같은 결과로 보지 않습니다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공통 계약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네 메시지·고정 크기 Codec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STM32와 ESP32가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같은 application 의미 사용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안전 우선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33700"/>
            <a:ext cx="70580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62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FALL STOP과 분리 Queue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낙상 STOP을 BUTTON보다 우선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센서 상태는 최신값 유지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576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확인 경계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38650"/>
            <a:ext cx="7058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STOP_ACK = App Accepted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미응답 Peer만 재시도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물리 출력 완료와는 구분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Latest State · Targeted STOP Retry · Volatile Dedupe로 제한된 MCU 자원 관리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자동 낙상 감지에서 실사용 확장까지, 안전 가치를 단계적으로 키웁니다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판매 수치보다 검증 가능한 활용 경로를 먼저 제시합니다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즉시 가치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주행 중 전달 공백 완화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버튼을 누르기 어려운 순간에도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8E3EA"/>
                </a:solidFill>
                <a:latin typeface="Apple SD Gothic Neo"/>
                <a:ea typeface="Apple SD Gothic Neo"/>
                <a:cs typeface="Apple SD Gothic Neo"/>
              </a:rPr>
              <a:t>로컬 낙상 판정이 STOP 경로를 시작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활용성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33700"/>
            <a:ext cx="70580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623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자전거·PM 안전 보조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버튼과 시각·청각 출력을 결합해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스마트폰 조작 의존을 낮추는 구조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57650"/>
            <a:ext cx="7058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발전 경로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38650"/>
            <a:ext cx="7058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측정 → 위치·연락 → 소형화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주행 데이터 검증 뒤 GPS·보호자 알림·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Housing·Battery로 확장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사업화 전제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3노드 실물 통합 → 신뢰도·오탐률·손실률 측정 → 사용자 검증 → 소형화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43E4853A-ED3A-4E6C-981F-A8AA3BB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05B5AFBC-DC35-4A2E-BD05-A8AE2E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개발은 위험 기술을 앞당겨 검증하고 단계별로 통합했습니다</a:t>
            </a:r>
          </a:p>
        </p:txBody>
      </p:sp>
      <p:sp>
        <p:nvSpPr>
          <p:cNvPr id="3" name="slide2-lead">
            <a:extLst xmlns:a="http://schemas.openxmlformats.org/drawingml/2006/main">
              <a:ext uri="{FF2B5EF4-FFF2-40B4-BE49-F238E27FC236}">
                <a16:creationId xmlns:a16="http://schemas.microsoft.com/office/drawing/2014/main" id="{A65C3CA5-B091-4645-9095-C9CFF62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정확한 날짜 기록 대신 실제 작업 순서와 주요 의사결정을 기준으로 정리했습니다.</a:t>
            </a:r>
          </a:p>
        </p:txBody>
      </p:sp>
      <p:sp>
        <p:nvSpPr>
          <p:cNvPr id="4" name="slide2-left-panel">
            <a:extLst xmlns:a="http://schemas.openxmlformats.org/drawingml/2006/main">
              <a:ext uri="{FF2B5EF4-FFF2-40B4-BE49-F238E27FC236}">
                <a16:creationId xmlns:a16="http://schemas.microsoft.com/office/drawing/2014/main" id="{08395D18-5244-4A67-8893-466F031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286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5" name="slide2-left-heading">
            <a:extLst xmlns:a="http://schemas.openxmlformats.org/drawingml/2006/main">
              <a:ext uri="{FF2B5EF4-FFF2-40B4-BE49-F238E27FC236}">
                <a16:creationId xmlns:a16="http://schemas.microsoft.com/office/drawing/2014/main" id="{6AF13C2D-B467-4E99-924D-A68DCC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일정 운영 원칙</a:t>
            </a:r>
          </a:p>
        </p:txBody>
      </p:sp>
      <p:sp>
        <p:nvSpPr>
          <p:cNvPr id="6" name="slide2-motivation-list">
            <a:extLst xmlns:a="http://schemas.openxmlformats.org/drawingml/2006/main">
              <a:ext uri="{FF2B5EF4-FFF2-40B4-BE49-F238E27FC236}">
                <a16:creationId xmlns:a16="http://schemas.microsoft.com/office/drawing/2014/main" id="{AFA73071-7B67-4FE1-B774-66C548F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581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핵심 통신 기술 조기 검증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· Pico 검토 후 ESP32-S3 전환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기능별 구현 뒤 공통 Protocol 통합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· Demo 전 Power·Flash 점검</a:t>
            </a:r>
          </a:p>
        </p:txBody>
      </p:sp>
      <p:sp>
        <p:nvSpPr>
          <p:cNvPr id="7" name="slide2-right-heading">
            <a:extLst xmlns:a="http://schemas.openxmlformats.org/drawingml/2006/main">
              <a:ext uri="{FF2B5EF4-FFF2-40B4-BE49-F238E27FC236}">
                <a16:creationId xmlns:a16="http://schemas.microsoft.com/office/drawing/2014/main" id="{582143A8-43E6-400E-9FCE-25ECD52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5단계 개발 일정</a:t>
            </a:r>
          </a:p>
        </p:txBody>
      </p:sp>
      <p:sp>
        <p:nvSpPr>
          <p:cNvPr id="8" name="slide2-concept-copy">
            <a:extLst xmlns:a="http://schemas.openxmlformats.org/drawingml/2006/main">
              <a:ext uri="{FF2B5EF4-FFF2-40B4-BE49-F238E27FC236}">
                <a16:creationId xmlns:a16="http://schemas.microsoft.com/office/drawing/2014/main" id="{B3EC4D71-0BFA-4025-B17A-4937F92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기획 → 플랫폼 → 기능 → 통합 → 검증·시연 순으로 진행했습니다.</a:t>
            </a:r>
          </a:p>
        </p:txBody>
      </p:sp>
      <p:sp>
        <p:nvSpPr>
          <p:cNvPr id="9" name="slide2-flow-backbone">
            <a:extLst xmlns:a="http://schemas.openxmlformats.org/drawingml/2006/main">
              <a:ext uri="{FF2B5EF4-FFF2-40B4-BE49-F238E27FC236}">
                <a16:creationId xmlns:a16="http://schemas.microsoft.com/office/drawing/2014/main" id="{82EF2C2A-3207-4051-90FA-228A73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A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lide2-node-01">
            <a:extLst xmlns:a="http://schemas.openxmlformats.org/drawingml/2006/main">
              <a:ext uri="{FF2B5EF4-FFF2-40B4-BE49-F238E27FC236}">
                <a16:creationId xmlns:a16="http://schemas.microsoft.com/office/drawing/2014/main" id="{6442CAEB-207A-4885-A91F-FA20F6D2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67E9-4BAF-4885-8503-548E8AE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E526-A5C5-496A-8A62-DB270D5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FB99-A48A-4259-9816-620E616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요구·역할</a:t>
            </a:r>
          </a:p>
        </p:txBody>
      </p:sp>
      <p:sp>
        <p:nvSpPr>
          <p:cNvPr id="14" name="slide2-node-02">
            <a:extLst xmlns:a="http://schemas.openxmlformats.org/drawingml/2006/main">
              <a:ext uri="{FF2B5EF4-FFF2-40B4-BE49-F238E27FC236}">
                <a16:creationId xmlns:a16="http://schemas.microsoft.com/office/drawing/2014/main" id="{7211E472-7066-4F39-B552-EFBCEA0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1DDA-C5D6-44B9-B432-4B420CB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06F6-429A-41E7-8274-ACDA6B3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플랫폼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947D7-E9F9-4D13-B76F-38EB4E4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ESP32 결정</a:t>
            </a:r>
          </a:p>
        </p:txBody>
      </p:sp>
      <p:sp>
        <p:nvSpPr>
          <p:cNvPr id="18" name="slide2-node-03">
            <a:extLst xmlns:a="http://schemas.openxmlformats.org/drawingml/2006/main">
              <a:ext uri="{FF2B5EF4-FFF2-40B4-BE49-F238E27FC236}">
                <a16:creationId xmlns:a16="http://schemas.microsoft.com/office/drawing/2014/main" id="{5A6A458F-D709-4505-9EAB-8E2874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FD7D5-235B-47C7-A65E-F11E131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2D0D8-9035-47D9-A1FF-2F05A2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80E91-EB3D-41D4-9858-13CA7D8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STM32·Mesh</a:t>
            </a:r>
          </a:p>
        </p:txBody>
      </p:sp>
      <p:sp>
        <p:nvSpPr>
          <p:cNvPr id="22" name="slide2-node-04">
            <a:extLst xmlns:a="http://schemas.openxmlformats.org/drawingml/2006/main">
              <a:ext uri="{FF2B5EF4-FFF2-40B4-BE49-F238E27FC236}">
                <a16:creationId xmlns:a16="http://schemas.microsoft.com/office/drawing/2014/main" id="{6F72293A-8B83-431B-B9C5-2554B2F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1E7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C6EEB-545C-4220-8187-D4BE69F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FE9AC-B825-459E-9BD0-9B7710E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통합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81E-670A-475F-9B1C-0F10A14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UART·Protocol</a:t>
            </a:r>
          </a:p>
        </p:txBody>
      </p:sp>
      <p:sp>
        <p:nvSpPr>
          <p:cNvPr id="26" name="slide2-node-05">
            <a:extLst xmlns:a="http://schemas.openxmlformats.org/drawingml/2006/main">
              <a:ext uri="{FF2B5EF4-FFF2-40B4-BE49-F238E27FC236}">
                <a16:creationId xmlns:a16="http://schemas.microsoft.com/office/drawing/2014/main" id="{A5652BA0-280C-4D6C-8BA3-9D7A9F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94809-872D-40E3-81E9-C7D9AEA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71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68B7-24E5-45F6-8FF7-D756A9A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67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0D51-2BF8-4F8B-9871-0CD4E77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910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Host·Demo</a:t>
            </a:r>
          </a:p>
        </p:txBody>
      </p:sp>
      <p:sp>
        <p:nvSpPr>
          <p:cNvPr id="30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1C140DF5-19A1-4AC8-BCC2-441E24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31" name="slide2-takeaway-copy">
            <a:extLst xmlns:a="http://schemas.openxmlformats.org/drawingml/2006/main">
              <a:ext uri="{FF2B5EF4-FFF2-40B4-BE49-F238E27FC236}">
                <a16:creationId xmlns:a16="http://schemas.microsoft.com/office/drawing/2014/main" id="{55E0945A-A215-458F-9150-77D14E1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팀 회고  |  플랫폼 전환 후 약 2~3일 내 Bluetooth Mesh 기반 구성</a:t>
            </a:r>
          </a:p>
        </p:txBody>
      </p:sp>
    </p:spTree>
    <p:extLst>
      <p:ext uri="{BB962C8B-B14F-4D97-AF65-F5344CB8AC3E}">
        <p14:creationId xmlns:p14="http://schemas.microsoft.com/office/powerpoint/2010/main" val="12756997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89D93394-B947-41D7-A418-8914299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DD664C0-BF08-4BE0-B5B5-88118C7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세 담당 영역을 공통 프로토콜과 통합 시험으로 연결했습니다</a:t>
            </a:r>
          </a:p>
        </p:txBody>
      </p:sp>
      <p:sp>
        <p:nvSpPr>
          <p:cNvPr id="3" name="slide3-thesis">
            <a:extLst xmlns:a="http://schemas.openxmlformats.org/drawingml/2006/main">
              <a:ext uri="{FF2B5EF4-FFF2-40B4-BE49-F238E27FC236}">
                <a16:creationId xmlns:a16="http://schemas.microsoft.com/office/drawing/2014/main" id="{960CC135-1ABD-47AD-87D6-8A629D9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팀원이 작성한 기능을 현재 코드 기준의 역할 단위로 재정리했습니다</a:t>
            </a:r>
          </a:p>
        </p:txBody>
      </p:sp>
      <p:sp>
        <p:nvSpPr>
          <p:cNvPr id="4" name="slide3-timeline">
            <a:extLst xmlns:a="http://schemas.openxmlformats.org/drawingml/2006/main">
              <a:ext uri="{FF2B5EF4-FFF2-40B4-BE49-F238E27FC236}">
                <a16:creationId xmlns:a16="http://schemas.microsoft.com/office/drawing/2014/main" id="{1BCBFF36-8F90-427A-870D-6552788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milestone-01">
            <a:extLst xmlns:a="http://schemas.openxmlformats.org/drawingml/2006/main">
              <a:ext uri="{FF2B5EF4-FFF2-40B4-BE49-F238E27FC236}">
                <a16:creationId xmlns:a16="http://schemas.microsoft.com/office/drawing/2014/main" id="{26E17352-4195-43AE-BFF9-3063FA6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04A1-A00C-42CB-9EFC-8FB295E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lide3-label-01">
            <a:extLst xmlns:a="http://schemas.openxmlformats.org/drawingml/2006/main">
              <a:ext uri="{FF2B5EF4-FFF2-40B4-BE49-F238E27FC236}">
                <a16:creationId xmlns:a16="http://schemas.microsoft.com/office/drawing/2014/main" id="{1465F0D8-DB76-41DF-95DD-FF45B97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안전 감지</a:t>
            </a:r>
          </a:p>
        </p:txBody>
      </p:sp>
      <p:sp>
        <p:nvSpPr>
          <p:cNvPr id="8" name="slide3-panel-01">
            <a:extLst xmlns:a="http://schemas.openxmlformats.org/drawingml/2006/main">
              <a:ext uri="{FF2B5EF4-FFF2-40B4-BE49-F238E27FC236}">
                <a16:creationId xmlns:a16="http://schemas.microsoft.com/office/drawing/2014/main" id="{D86FB5A2-0CE6-42E1-B478-65FAE1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card-title-01">
            <a:extLst xmlns:a="http://schemas.openxmlformats.org/drawingml/2006/main">
              <a:ext uri="{FF2B5EF4-FFF2-40B4-BE49-F238E27FC236}">
                <a16:creationId xmlns:a16="http://schemas.microsoft.com/office/drawing/2014/main" id="{0A668ABF-17AB-4ED2-B424-6FE9DE4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MPU6050 낙상 판단</a:t>
            </a:r>
          </a:p>
        </p:txBody>
      </p:sp>
      <p:sp>
        <p:nvSpPr>
          <p:cNvPr id="10" name="slide3-card-body-01">
            <a:extLst xmlns:a="http://schemas.openxmlformats.org/drawingml/2006/main">
              <a:ext uri="{FF2B5EF4-FFF2-40B4-BE49-F238E27FC236}">
                <a16:creationId xmlns:a16="http://schemas.microsoft.com/office/drawing/2014/main" id="{F3E35A88-3F80-4865-B09C-D79222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Calibration·충격·자세·회전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Safety Service·Host Test</a:t>
            </a:r>
          </a:p>
        </p:txBody>
      </p:sp>
      <p:sp>
        <p:nvSpPr>
          <p:cNvPr id="11" name="slide3-milestone-02">
            <a:extLst xmlns:a="http://schemas.openxmlformats.org/drawingml/2006/main">
              <a:ext uri="{FF2B5EF4-FFF2-40B4-BE49-F238E27FC236}">
                <a16:creationId xmlns:a16="http://schemas.microsoft.com/office/drawing/2014/main" id="{241955A3-375F-4721-83A6-E909958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B2C-0F21-4B23-BC7B-C32E806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slide3-label-02">
            <a:extLst xmlns:a="http://schemas.openxmlformats.org/drawingml/2006/main">
              <a:ext uri="{FF2B5EF4-FFF2-40B4-BE49-F238E27FC236}">
                <a16:creationId xmlns:a16="http://schemas.microsoft.com/office/drawing/2014/main" id="{D8075EC6-B5B3-44B8-9E45-A32AD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1A2B"/>
                </a:solidFill>
                <a:latin typeface="Apple SD Gothic Neo"/>
                <a:ea typeface="Apple SD Gothic Neo"/>
                <a:cs typeface="Apple SD Gothic Neo"/>
              </a:rPr>
              <a:t>사용자 인터페이스</a:t>
            </a:r>
          </a:p>
        </p:txBody>
      </p:sp>
      <p:sp>
        <p:nvSpPr>
          <p:cNvPr id="14" name="slide3-panel-02">
            <a:extLst xmlns:a="http://schemas.openxmlformats.org/drawingml/2006/main">
              <a:ext uri="{FF2B5EF4-FFF2-40B4-BE49-F238E27FC236}">
                <a16:creationId xmlns:a16="http://schemas.microsoft.com/office/drawing/2014/main" id="{3889836B-4F4B-43AC-9B8A-7622318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3-card-title-02">
            <a:extLst xmlns:a="http://schemas.openxmlformats.org/drawingml/2006/main">
              <a:ext uri="{FF2B5EF4-FFF2-40B4-BE49-F238E27FC236}">
                <a16:creationId xmlns:a16="http://schemas.microsoft.com/office/drawing/2014/main" id="{1287FDDF-BCAD-4F43-B0B0-7BED9E2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입력과 멀티모달 출력</a:t>
            </a:r>
          </a:p>
        </p:txBody>
      </p:sp>
      <p:sp>
        <p:nvSpPr>
          <p:cNvPr id="16" name="slide3-card-body-02">
            <a:extLst xmlns:a="http://schemas.openxmlformats.org/drawingml/2006/main">
              <a:ext uri="{FF2B5EF4-FFF2-40B4-BE49-F238E27FC236}">
                <a16:creationId xmlns:a16="http://schemas.microsoft.com/office/drawing/2014/main" id="{A511886D-273C-47D2-8D6B-1369A28F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Button·RGB·Buzzer·OLED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VS1003B Driver·Service</a:t>
            </a:r>
          </a:p>
        </p:txBody>
      </p:sp>
      <p:sp>
        <p:nvSpPr>
          <p:cNvPr id="17" name="slide3-milestone-03">
            <a:extLst xmlns:a="http://schemas.openxmlformats.org/drawingml/2006/main">
              <a:ext uri="{FF2B5EF4-FFF2-40B4-BE49-F238E27FC236}">
                <a16:creationId xmlns:a16="http://schemas.microsoft.com/office/drawing/2014/main" id="{387B5CBA-3928-4B29-8651-7E677AB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384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4D29-8415-4BF1-8862-29EB360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71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1829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slide3-label-03">
            <a:extLst xmlns:a="http://schemas.openxmlformats.org/drawingml/2006/main">
              <a:ext uri="{FF2B5EF4-FFF2-40B4-BE49-F238E27FC236}">
                <a16:creationId xmlns:a16="http://schemas.microsoft.com/office/drawing/2014/main" id="{724D1554-AC24-416F-A2FA-93573F6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무선·통합</a:t>
            </a:r>
          </a:p>
        </p:txBody>
      </p:sp>
      <p:sp>
        <p:nvSpPr>
          <p:cNvPr id="20" name="slide3-panel-03">
            <a:extLst xmlns:a="http://schemas.openxmlformats.org/drawingml/2006/main">
              <a:ext uri="{FF2B5EF4-FFF2-40B4-BE49-F238E27FC236}">
                <a16:creationId xmlns:a16="http://schemas.microsoft.com/office/drawing/2014/main" id="{A793B8B0-E507-4561-8BCE-582A474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0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lide3-card-title-03">
            <a:extLst xmlns:a="http://schemas.openxmlformats.org/drawingml/2006/main">
              <a:ext uri="{FF2B5EF4-FFF2-40B4-BE49-F238E27FC236}">
                <a16:creationId xmlns:a16="http://schemas.microsoft.com/office/drawing/2014/main" id="{2F3CF277-E89B-4F3A-875C-AD75608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ESP32-S3 Mesh Bridge</a:t>
            </a:r>
          </a:p>
        </p:txBody>
      </p:sp>
      <p:sp>
        <p:nvSpPr>
          <p:cNvPr id="22" name="slide3-card-body-03">
            <a:extLst xmlns:a="http://schemas.openxmlformats.org/drawingml/2006/main">
              <a:ext uri="{FF2B5EF4-FFF2-40B4-BE49-F238E27FC236}">
                <a16:creationId xmlns:a16="http://schemas.microsoft.com/office/drawing/2014/main" id="{0810072C-8C30-467E-93BA-E2E349C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UART·Protocol·Queue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472"/>
                </a:solidFill>
                <a:latin typeface="Apple SD Gothic Neo"/>
                <a:ea typeface="Apple SD Gothic Neo"/>
                <a:cs typeface="Apple SD Gothic Neo"/>
              </a:rPr>
              <a:t>Provisioning Support·Demo 통합</a:t>
            </a:r>
          </a:p>
        </p:txBody>
      </p:sp>
      <p:sp>
        <p:nvSpPr>
          <p:cNvPr id="23" name="slide3-necessity-band">
            <a:extLst xmlns:a="http://schemas.openxmlformats.org/drawingml/2006/main">
              <a:ext uri="{FF2B5EF4-FFF2-40B4-BE49-F238E27FC236}">
                <a16:creationId xmlns:a16="http://schemas.microsoft.com/office/drawing/2014/main" id="{BD5DA097-59DA-408A-80B0-0C26E65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solidFill>
              <a:srgbClr val="081829"/>
            </a:solidFill>
            <a:prstDash val="solid"/>
          </a:ln>
        </p:spPr>
      </p:sp>
      <p:sp>
        <p:nvSpPr>
          <p:cNvPr id="24" name="slide3-necessity-label">
            <a:extLst xmlns:a="http://schemas.openxmlformats.org/drawingml/2006/main">
              <a:ext uri="{FF2B5EF4-FFF2-40B4-BE49-F238E27FC236}">
                <a16:creationId xmlns:a16="http://schemas.microsoft.com/office/drawing/2014/main" id="{8742E598-2DD7-4354-B01B-A5F3EF2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C1E7"/>
                </a:solidFill>
                <a:latin typeface="Apple SD Gothic Neo"/>
                <a:ea typeface="Apple SD Gothic Neo"/>
                <a:cs typeface="Apple SD Gothic Neo"/>
              </a:rPr>
              <a:t>공동 업무</a:t>
            </a:r>
          </a:p>
        </p:txBody>
      </p:sp>
      <p:sp>
        <p:nvSpPr>
          <p:cNvPr id="25" name="slide3-necessity-copy">
            <a:extLst xmlns:a="http://schemas.openxmlformats.org/drawingml/2006/main">
              <a:ext uri="{FF2B5EF4-FFF2-40B4-BE49-F238E27FC236}">
                <a16:creationId xmlns:a16="http://schemas.microsoft.com/office/drawing/2014/main" id="{6AA583E7-948F-4808-BFE7-A5CF56C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969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핀·전원 통합 · Host Check · 3노드 검증 계획 · 현장 Demo 운영</a:t>
            </a:r>
          </a:p>
        </p:txBody>
      </p:sp>
    </p:spTree>
    <p:extLst>
      <p:ext uri="{BB962C8B-B14F-4D97-AF65-F5344CB8AC3E}">
        <p14:creationId xmlns:p14="http://schemas.microsoft.com/office/powerpoint/2010/main" val="64682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2026-09-02T22:15:52.9880000Z</dcterms:created>
  <dcterms:modified xsi:type="dcterms:W3CDTF">2026-09-02T22:15:52.9880000Z</dcterms:modified>
</coreProperties>
</file>